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3" r:id="rId9"/>
    <p:sldId id="264" r:id="rId10"/>
    <p:sldId id="267" r:id="rId11"/>
    <p:sldId id="271" r:id="rId12"/>
    <p:sldId id="280" r:id="rId13"/>
    <p:sldId id="272" r:id="rId14"/>
    <p:sldId id="273" r:id="rId15"/>
    <p:sldId id="283" r:id="rId16"/>
    <p:sldId id="274" r:id="rId17"/>
    <p:sldId id="275" r:id="rId18"/>
    <p:sldId id="281" r:id="rId19"/>
    <p:sldId id="277" r:id="rId20"/>
    <p:sldId id="282" r:id="rId21"/>
    <p:sldId id="279" r:id="rId22"/>
    <p:sldId id="284" r:id="rId23"/>
    <p:sldId id="268" r:id="rId24"/>
    <p:sldId id="269" r:id="rId25"/>
    <p:sldId id="285" r:id="rId26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5465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0" roundtripDataSignature="AMtx7mgkZeFKMr5Y5/yBGrkiSnYqQ8p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C3ACE-151E-E05B-2AD6-FB45D00BEC11}" v="235" dt="2026-01-28T20:02:56.048"/>
    <p1510:client id="{0CE1CF1D-AD9C-9972-D5FA-F88C7E264BE0}" v="47" dt="2026-01-28T16:39:53.440"/>
    <p1510:client id="{0DEACB17-1C2E-BAE3-4E8E-971EAE9A901D}" v="54" dt="2026-01-28T19:40:50.229"/>
    <p1510:client id="{30826E6B-DC63-62A6-7C48-30A7E109944E}" v="8" dt="2026-01-28T15:39:52.356"/>
    <p1510:client id="{54149932-C53B-904F-9218-08E2680AA7BD}" v="5134" dt="2026-01-28T23:00:51.952"/>
    <p1510:client id="{5D3B2DB9-46B9-ACBB-E64A-E7C9A95D6B29}" v="24" dt="2026-01-28T18:42:05.906"/>
    <p1510:client id="{71C4DF10-AD5A-9E4F-A363-6EE3DF021F2A}" v="742" dt="2026-01-28T22:40:31.317"/>
    <p1510:client id="{78C74A4B-4A6E-45B5-126A-8900D215FF41}" v="66" dt="2026-01-28T22:34:44.949"/>
    <p1510:client id="{AEFFAFDC-C8D5-E911-A9CF-BC48684F688B}" v="103" dt="2026-01-28T22:45:46.547"/>
    <p1510:client id="{C7EF11D3-8B59-B921-514F-D722C199D7EE}" v="35" dt="2026-01-28T17:16:20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7"/>
  </p:normalViewPr>
  <p:slideViewPr>
    <p:cSldViewPr snapToGrid="0">
      <p:cViewPr varScale="1">
        <p:scale>
          <a:sx n="143" d="100"/>
          <a:sy n="143" d="100"/>
        </p:scale>
        <p:origin x="952" y="192"/>
      </p:cViewPr>
      <p:guideLst>
        <p:guide orient="horz" pos="1800"/>
        <p:guide pos="5465"/>
        <p:guide pos="4241"/>
        <p:guide pos="46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customschemas.google.com/relationships/presentationmetadata" Target="meta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>
  <p:cSld name="Titelfoli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17"/>
          <p:cNvGrpSpPr/>
          <p:nvPr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0" name="Google Shape;20;p17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" name="Google Shape;21;p17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2" name="Google Shape;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7"/>
          <p:cNvSpPr txBox="1"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ubTitle" idx="1"/>
          </p:nvPr>
        </p:nvSpPr>
        <p:spPr>
          <a:xfrm>
            <a:off x="605406" y="993080"/>
            <a:ext cx="5436000" cy="35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2"/>
          </p:nvPr>
        </p:nvSpPr>
        <p:spPr>
          <a:xfrm>
            <a:off x="287338" y="2941638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3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113" y="5141094"/>
            <a:ext cx="1835942" cy="29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7759644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238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▪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‹#›</a:t>
            </a:fld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62405" y="1344613"/>
            <a:ext cx="3960000" cy="385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238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▪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715688" y="1344613"/>
            <a:ext cx="3960000" cy="385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 sz="1600"/>
            </a:lvl1pPr>
            <a:lvl2pPr marL="914400" lvl="1" indent="-3238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▪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▪"/>
              <a:defRPr sz="12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‹#›</a:t>
            </a:fld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kurz">
  <p:cSld name="Titelfolie kurz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20"/>
          <p:cNvGrpSpPr/>
          <p:nvPr/>
        </p:nvGrpSpPr>
        <p:grpSpPr>
          <a:xfrm>
            <a:off x="287338" y="603319"/>
            <a:ext cx="8552850" cy="1731679"/>
            <a:chOff x="287338" y="603319"/>
            <a:chExt cx="8552850" cy="1731679"/>
          </a:xfrm>
        </p:grpSpPr>
        <p:sp>
          <p:nvSpPr>
            <p:cNvPr id="43" name="Google Shape;43;p20"/>
            <p:cNvSpPr/>
            <p:nvPr/>
          </p:nvSpPr>
          <p:spPr>
            <a:xfrm>
              <a:off x="6192000" y="603319"/>
              <a:ext cx="2648188" cy="17316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4" name="Google Shape;44;p20"/>
            <p:cNvSpPr/>
            <p:nvPr/>
          </p:nvSpPr>
          <p:spPr>
            <a:xfrm>
              <a:off x="287338" y="603319"/>
              <a:ext cx="5904662" cy="1731679"/>
            </a:xfrm>
            <a:prstGeom prst="rect">
              <a:avLst/>
            </a:prstGeom>
            <a:solidFill>
              <a:srgbClr val="0096D3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45" name="Google Shape;45;p20"/>
          <p:cNvSpPr txBox="1">
            <a:spLocks noGrp="1"/>
          </p:cNvSpPr>
          <p:nvPr>
            <p:ph type="ctrTitle"/>
          </p:nvPr>
        </p:nvSpPr>
        <p:spPr>
          <a:xfrm>
            <a:off x="605408" y="1296154"/>
            <a:ext cx="5466982" cy="51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subTitle" idx="1"/>
          </p:nvPr>
        </p:nvSpPr>
        <p:spPr>
          <a:xfrm>
            <a:off x="605408" y="993080"/>
            <a:ext cx="5466982" cy="30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2"/>
          </p:nvPr>
        </p:nvSpPr>
        <p:spPr>
          <a:xfrm>
            <a:off x="287338" y="2642906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3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9" name="Google Shape;4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113" y="5141094"/>
            <a:ext cx="1835942" cy="29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ohne Bild">
  <p:cSld name="Titelfolie ohne Bild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21"/>
          <p:cNvGrpSpPr/>
          <p:nvPr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53" name="Google Shape;53;p21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4" name="Google Shape;54;p21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55" name="Google Shape;55;p21"/>
          <p:cNvSpPr txBox="1">
            <a:spLocks noGrp="1"/>
          </p:cNvSpPr>
          <p:nvPr>
            <p:ph type="body" idx="1"/>
          </p:nvPr>
        </p:nvSpPr>
        <p:spPr>
          <a:xfrm>
            <a:off x="287338" y="2941638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2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ubTitle" idx="3"/>
          </p:nvPr>
        </p:nvSpPr>
        <p:spPr>
          <a:xfrm>
            <a:off x="605406" y="993080"/>
            <a:ext cx="5436000" cy="35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9" name="Google Shape;5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7341" y="5141369"/>
            <a:ext cx="1831485" cy="29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413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ohne Bild kurz">
  <p:cSld name="Titelfolie ohne Bild kurz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22"/>
          <p:cNvGrpSpPr/>
          <p:nvPr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63" name="Google Shape;63;p22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4" name="Google Shape;64;p22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65" name="Google Shape;65;p22"/>
          <p:cNvSpPr txBox="1">
            <a:spLocks noGrp="1"/>
          </p:cNvSpPr>
          <p:nvPr>
            <p:ph type="ctrTitle"/>
          </p:nvPr>
        </p:nvSpPr>
        <p:spPr>
          <a:xfrm>
            <a:off x="605407" y="1296154"/>
            <a:ext cx="5436000" cy="51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subTitle" idx="1"/>
          </p:nvPr>
        </p:nvSpPr>
        <p:spPr>
          <a:xfrm>
            <a:off x="605407" y="993080"/>
            <a:ext cx="5436000" cy="30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body" idx="2"/>
          </p:nvPr>
        </p:nvSpPr>
        <p:spPr>
          <a:xfrm>
            <a:off x="287338" y="2642907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3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9" name="Google Shape;6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7341" y="5141369"/>
            <a:ext cx="1831485" cy="29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Bild 2">
  <p:cSld name="Titelfolie Bild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3"/>
          <p:cNvGrpSpPr/>
          <p:nvPr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73" name="Google Shape;73;p23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4" name="Google Shape;74;p23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287338" y="2941638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2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ubTitle" idx="3"/>
          </p:nvPr>
        </p:nvSpPr>
        <p:spPr>
          <a:xfrm>
            <a:off x="605406" y="993080"/>
            <a:ext cx="5436000" cy="35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113" y="5141093"/>
            <a:ext cx="1835942" cy="29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Bild 2 kurz">
  <p:cSld name="Titelfolie Bild 2 kurz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24"/>
          <p:cNvGrpSpPr/>
          <p:nvPr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83" name="Google Shape;83;p24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4" name="Google Shape;84;p24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85" name="Google Shape;85;p24"/>
          <p:cNvSpPr txBox="1">
            <a:spLocks noGrp="1"/>
          </p:cNvSpPr>
          <p:nvPr>
            <p:ph type="ctrTitle"/>
          </p:nvPr>
        </p:nvSpPr>
        <p:spPr>
          <a:xfrm>
            <a:off x="605407" y="1296154"/>
            <a:ext cx="5436000" cy="51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subTitle" idx="1"/>
          </p:nvPr>
        </p:nvSpPr>
        <p:spPr>
          <a:xfrm>
            <a:off x="605407" y="993080"/>
            <a:ext cx="5436000" cy="30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2"/>
          </p:nvPr>
        </p:nvSpPr>
        <p:spPr>
          <a:xfrm>
            <a:off x="287338" y="2642907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3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113" y="5141093"/>
            <a:ext cx="1835942" cy="29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Bild 3">
  <p:cSld name="Titelfolie Bild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5"/>
          <p:cNvGrpSpPr/>
          <p:nvPr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93" name="Google Shape;93;p25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4" name="Google Shape;94;p25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95" name="Google Shape;95;p25"/>
          <p:cNvSpPr txBox="1">
            <a:spLocks noGrp="1"/>
          </p:cNvSpPr>
          <p:nvPr>
            <p:ph type="body" idx="1"/>
          </p:nvPr>
        </p:nvSpPr>
        <p:spPr>
          <a:xfrm>
            <a:off x="287338" y="2941638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body" idx="2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3"/>
          </p:nvPr>
        </p:nvSpPr>
        <p:spPr>
          <a:xfrm>
            <a:off x="605406" y="993080"/>
            <a:ext cx="5436000" cy="35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99" name="Google Shape;9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113" y="5141094"/>
            <a:ext cx="1835942" cy="29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Bild 3 kurz">
  <p:cSld name="Titelfolie Bild 3 kurz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6"/>
          <p:cNvGrpSpPr/>
          <p:nvPr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03" name="Google Shape;103;p26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4" name="Google Shape;104;p26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5" name="Google Shape;105;p26"/>
          <p:cNvSpPr txBox="1">
            <a:spLocks noGrp="1"/>
          </p:cNvSpPr>
          <p:nvPr>
            <p:ph type="ctrTitle"/>
          </p:nvPr>
        </p:nvSpPr>
        <p:spPr>
          <a:xfrm>
            <a:off x="605407" y="1296154"/>
            <a:ext cx="5436000" cy="51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sz="32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subTitle" idx="1"/>
          </p:nvPr>
        </p:nvSpPr>
        <p:spPr>
          <a:xfrm>
            <a:off x="605407" y="993080"/>
            <a:ext cx="5436000" cy="30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2"/>
          </p:nvPr>
        </p:nvSpPr>
        <p:spPr>
          <a:xfrm>
            <a:off x="287338" y="2642907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3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5113" y="5141094"/>
            <a:ext cx="1835942" cy="29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apitelfolie">
  <p:cSld name="Kapitelfoli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7"/>
          <p:cNvGrpSpPr/>
          <p:nvPr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13" name="Google Shape;113;p27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14" name="Google Shape;114;p27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15" name="Google Shape;115;p27"/>
          <p:cNvSpPr txBox="1">
            <a:spLocks noGrp="1"/>
          </p:cNvSpPr>
          <p:nvPr>
            <p:ph type="body" idx="1"/>
          </p:nvPr>
        </p:nvSpPr>
        <p:spPr>
          <a:xfrm>
            <a:off x="287338" y="2941638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ctrTitle"/>
          </p:nvPr>
        </p:nvSpPr>
        <p:spPr>
          <a:xfrm>
            <a:off x="605406" y="1301365"/>
            <a:ext cx="5436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eorgia"/>
              <a:buNone/>
              <a:defRPr sz="28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dt" idx="10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7613" y="5359721"/>
            <a:ext cx="1318058" cy="212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apitelfolie kurz">
  <p:cSld name="Kapitelfolie kurz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28"/>
          <p:cNvGrpSpPr/>
          <p:nvPr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24" name="Google Shape;124;p28"/>
            <p:cNvSpPr/>
            <p:nvPr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5" name="Google Shape;125;p28"/>
            <p:cNvSpPr/>
            <p:nvPr/>
          </p:nvSpPr>
          <p:spPr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26" name="Google Shape;126;p28"/>
          <p:cNvSpPr txBox="1">
            <a:spLocks noGrp="1"/>
          </p:cNvSpPr>
          <p:nvPr>
            <p:ph type="ctrTitle"/>
          </p:nvPr>
        </p:nvSpPr>
        <p:spPr>
          <a:xfrm>
            <a:off x="605407" y="1302593"/>
            <a:ext cx="5436000" cy="51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eorgia"/>
              <a:buNone/>
              <a:defRPr sz="28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body" idx="1"/>
          </p:nvPr>
        </p:nvSpPr>
        <p:spPr>
          <a:xfrm>
            <a:off x="287338" y="2642907"/>
            <a:ext cx="4284662" cy="62088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216000" rIns="324000" bIns="216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dt" idx="10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‹#›</a:t>
            </a:fld>
            <a:endParaRPr/>
          </a:p>
        </p:txBody>
      </p:sp>
      <p:pic>
        <p:nvPicPr>
          <p:cNvPr id="131" name="Google Shape;13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9375" y="1065910"/>
            <a:ext cx="1849165" cy="9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7613" y="5359721"/>
            <a:ext cx="1318058" cy="212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r Titel">
  <p:cSld name="Nur Titel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body" idx="1"/>
          </p:nvPr>
        </p:nvSpPr>
        <p:spPr>
          <a:xfrm>
            <a:off x="468316" y="1344613"/>
            <a:ext cx="8210547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/>
          <p:nvPr/>
        </p:nvSpPr>
        <p:spPr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7" name="Google Shape;13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11621" y="288569"/>
            <a:ext cx="1170000" cy="61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 Vergleich">
  <p:cSld name="Zwei Inhalte Vergleich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>
            <a:spLocks noGrp="1"/>
          </p:cNvSpPr>
          <p:nvPr>
            <p:ph type="body" idx="1"/>
          </p:nvPr>
        </p:nvSpPr>
        <p:spPr>
          <a:xfrm>
            <a:off x="462405" y="1935991"/>
            <a:ext cx="3960000" cy="326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238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▪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100"/>
            </a:lvl4pPr>
            <a:lvl5pPr marL="2286000" lvl="4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1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body" idx="2"/>
          </p:nvPr>
        </p:nvSpPr>
        <p:spPr>
          <a:xfrm>
            <a:off x="4715688" y="1935991"/>
            <a:ext cx="3960000" cy="326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  <a:defRPr sz="1600"/>
            </a:lvl1pPr>
            <a:lvl2pPr marL="914400" lvl="1" indent="-3238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▪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100"/>
            </a:lvl4pPr>
            <a:lvl5pPr marL="2286000" lvl="4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1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1" name="Google Shape;141;p30"/>
          <p:cNvSpPr txBox="1">
            <a:spLocks noGrp="1"/>
          </p:cNvSpPr>
          <p:nvPr>
            <p:ph type="body" idx="3"/>
          </p:nvPr>
        </p:nvSpPr>
        <p:spPr>
          <a:xfrm>
            <a:off x="468314" y="1344613"/>
            <a:ext cx="3960811" cy="5331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dt" idx="10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0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‹#›</a:t>
            </a:fld>
            <a:endParaRPr/>
          </a:p>
        </p:txBody>
      </p:sp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4"/>
          </p:nvPr>
        </p:nvSpPr>
        <p:spPr>
          <a:xfrm>
            <a:off x="4727894" y="1344613"/>
            <a:ext cx="3960811" cy="5331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lussfolie">
  <p:cSld name="Abschlussfoli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9" name="Google Shape;149;p31" descr="Logo-für-VK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1560" y="2127250"/>
            <a:ext cx="492443" cy="225266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1"/>
          <p:cNvSpPr txBox="1">
            <a:spLocks noGrp="1"/>
          </p:cNvSpPr>
          <p:nvPr>
            <p:ph type="body" idx="1"/>
          </p:nvPr>
        </p:nvSpPr>
        <p:spPr>
          <a:xfrm>
            <a:off x="1684020" y="2559843"/>
            <a:ext cx="2763926" cy="181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Pts val="1100"/>
              <a:buFont typeface="Noto Sans Symbols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1"/>
          <p:cNvSpPr txBox="1">
            <a:spLocks noGrp="1"/>
          </p:cNvSpPr>
          <p:nvPr>
            <p:ph type="dt" idx="10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11621" y="288569"/>
            <a:ext cx="1170000" cy="6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200" y="1344613"/>
            <a:ext cx="7764463" cy="385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‹#›</a:t>
            </a:fld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5" name="Google Shape;15;p16"/>
          <p:cNvSpPr/>
          <p:nvPr/>
        </p:nvSpPr>
        <p:spPr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sz="24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" name="Google Shape;17;p1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567613" y="5359721"/>
            <a:ext cx="1318058" cy="21213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pos="288">
          <p15:clr>
            <a:srgbClr val="F26B43"/>
          </p15:clr>
        </p15:guide>
        <p15:guide id="3" pos="5179">
          <p15:clr>
            <a:srgbClr val="F26B43"/>
          </p15:clr>
        </p15:guide>
        <p15:guide id="4" pos="5467">
          <p15:clr>
            <a:srgbClr val="F26B43"/>
          </p15:clr>
        </p15:guide>
        <p15:guide id="5" orient="horz" pos="3278">
          <p15:clr>
            <a:srgbClr val="F26B43"/>
          </p15:clr>
        </p15:guide>
        <p15:guide id="6" orient="horz" pos="182">
          <p15:clr>
            <a:srgbClr val="F26B43"/>
          </p15:clr>
        </p15:guide>
        <p15:guide id="7" orient="horz" pos="847">
          <p15:clr>
            <a:srgbClr val="F26B43"/>
          </p15:clr>
        </p15:guide>
        <p15:guide id="8" orient="horz" pos="35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>
            <a:spLocks noGrp="1"/>
          </p:cNvSpPr>
          <p:nvPr>
            <p:ph type="ctrTitle"/>
          </p:nvPr>
        </p:nvSpPr>
        <p:spPr>
          <a:xfrm>
            <a:off x="587118" y="1127826"/>
            <a:ext cx="5436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None/>
            </a:pPr>
            <a:r>
              <a:rPr lang="de-AT" sz="2600" b="0"/>
              <a:t>Explaining and Predicting Oil Prices Using OPEC Communication</a:t>
            </a:r>
            <a:endParaRPr sz="2600"/>
          </a:p>
        </p:txBody>
      </p:sp>
      <p:sp>
        <p:nvSpPr>
          <p:cNvPr id="161" name="Google Shape;161;p1"/>
          <p:cNvSpPr txBox="1">
            <a:spLocks noGrp="1"/>
          </p:cNvSpPr>
          <p:nvPr>
            <p:ph type="body" idx="2"/>
          </p:nvPr>
        </p:nvSpPr>
        <p:spPr>
          <a:xfrm>
            <a:off x="287338" y="2695204"/>
            <a:ext cx="3392933" cy="925995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324000" tIns="108000" rIns="324000" bIns="1080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de-AT"/>
              <a:t>Krisztina Gyarmati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lang="de-AT"/>
              <a:t>Wilhelm Hartung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lang="de-AT"/>
              <a:t>Leo Sturmlechner</a:t>
            </a:r>
            <a:endParaRPr/>
          </a:p>
        </p:txBody>
      </p:sp>
      <p:sp>
        <p:nvSpPr>
          <p:cNvPr id="162" name="Google Shape;162;p1"/>
          <p:cNvSpPr txBox="1">
            <a:spLocks noGrp="1"/>
          </p:cNvSpPr>
          <p:nvPr>
            <p:ph type="body" idx="3"/>
          </p:nvPr>
        </p:nvSpPr>
        <p:spPr>
          <a:xfrm>
            <a:off x="457200" y="5426926"/>
            <a:ext cx="1638300" cy="24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de-AT"/>
              <a:t>JANUARY 2025</a:t>
            </a:r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287337" y="3677956"/>
            <a:ext cx="3392933" cy="556664"/>
          </a:xfrm>
          <a:prstGeom prst="rect">
            <a:avLst/>
          </a:prstGeom>
          <a:solidFill>
            <a:schemeClr val="dk2">
              <a:alpha val="89803"/>
            </a:schemeClr>
          </a:solidFill>
          <a:ln>
            <a:noFill/>
          </a:ln>
        </p:spPr>
        <p:txBody>
          <a:bodyPr spcFirstLastPara="1" wrap="square" lIns="324000" tIns="108000" rIns="324000" bIns="108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lang="de-AT" sz="11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R&amp;P Seminar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rPr lang="de-AT" sz="11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Money Credit &amp; Finance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8332846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de-AT" b="1" err="1">
                <a:cs typeface="Georgia"/>
                <a:sym typeface="Georgia"/>
              </a:rPr>
              <a:t>Why</a:t>
            </a:r>
            <a:r>
              <a:rPr lang="de-AT" b="1">
                <a:cs typeface="Georgia"/>
                <a:sym typeface="Georgia"/>
              </a:rPr>
              <a:t> </a:t>
            </a:r>
            <a:r>
              <a:rPr lang="de-AT" b="1" err="1">
                <a:cs typeface="Georgia"/>
                <a:sym typeface="Georgia"/>
              </a:rPr>
              <a:t>forecast</a:t>
            </a:r>
            <a:r>
              <a:rPr lang="de-AT" b="1">
                <a:cs typeface="Georgia"/>
                <a:sym typeface="Georgia"/>
              </a:rPr>
              <a:t> </a:t>
            </a:r>
            <a:r>
              <a:rPr lang="de-AT" b="1" err="1">
                <a:cs typeface="Georgia"/>
                <a:sym typeface="Georgia"/>
              </a:rPr>
              <a:t>oil</a:t>
            </a:r>
            <a:r>
              <a:rPr lang="de-AT" b="1">
                <a:cs typeface="Georgia"/>
                <a:sym typeface="Georgia"/>
              </a:rPr>
              <a:t> </a:t>
            </a:r>
            <a:r>
              <a:rPr lang="de-AT" b="1" err="1">
                <a:cs typeface="Georgia"/>
                <a:sym typeface="Georgia"/>
              </a:rPr>
              <a:t>markets</a:t>
            </a:r>
            <a:r>
              <a:rPr lang="de-AT" b="1">
                <a:cs typeface="Georgia"/>
                <a:sym typeface="Georgia"/>
              </a:rPr>
              <a:t>?</a:t>
            </a:r>
            <a:endParaRPr lang="en-US"/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de-AT">
                <a:cs typeface="Georgia"/>
                <a:sym typeface="Georgia"/>
              </a:rPr>
              <a:t>Oil </a:t>
            </a:r>
            <a:r>
              <a:rPr lang="de-AT" err="1">
                <a:cs typeface="Georgia"/>
                <a:sym typeface="Georgia"/>
              </a:rPr>
              <a:t>prices</a:t>
            </a:r>
            <a:r>
              <a:rPr lang="de-AT">
                <a:cs typeface="Georgia"/>
                <a:sym typeface="Georgia"/>
              </a:rPr>
              <a:t> matter </a:t>
            </a:r>
            <a:r>
              <a:rPr lang="de-AT" err="1">
                <a:cs typeface="Georgia"/>
                <a:sym typeface="Georgia"/>
              </a:rPr>
              <a:t>for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inflation</a:t>
            </a:r>
            <a:r>
              <a:rPr lang="de-AT">
                <a:cs typeface="Georgia"/>
                <a:sym typeface="Georgia"/>
              </a:rPr>
              <a:t>, </a:t>
            </a:r>
            <a:r>
              <a:rPr lang="de-AT" err="1">
                <a:cs typeface="Georgia"/>
                <a:sym typeface="Georgia"/>
              </a:rPr>
              <a:t>growth</a:t>
            </a:r>
            <a:r>
              <a:rPr lang="de-AT">
                <a:cs typeface="Georgia"/>
                <a:sym typeface="Georgia"/>
              </a:rPr>
              <a:t>, </a:t>
            </a:r>
            <a:r>
              <a:rPr lang="de-AT" err="1">
                <a:cs typeface="Georgia"/>
                <a:sym typeface="Georgia"/>
              </a:rPr>
              <a:t>financial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markets</a:t>
            </a:r>
            <a:r>
              <a:rPr lang="de-AT">
                <a:cs typeface="Georgia"/>
                <a:sym typeface="Georgia"/>
              </a:rPr>
              <a:t>, </a:t>
            </a:r>
            <a:r>
              <a:rPr lang="de-AT" err="1">
                <a:cs typeface="Georgia"/>
                <a:sym typeface="Georgia"/>
              </a:rPr>
              <a:t>energy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policy</a:t>
            </a:r>
            <a:endParaRPr lang="de-AT">
              <a:cs typeface="Georgia"/>
            </a:endParaRPr>
          </a:p>
          <a:p>
            <a:pPr marL="1200150" lvl="1" indent="-285750">
              <a:spcBef>
                <a:spcPts val="600"/>
              </a:spcBef>
            </a:pPr>
            <a:endParaRPr lang="de-AT"/>
          </a:p>
          <a:p>
            <a:pPr marL="285750" indent="-285750">
              <a:buFont typeface="Wingdings" pitchFamily="2" charset="2"/>
              <a:buChar char="§"/>
            </a:pPr>
            <a:r>
              <a:rPr lang="de-AT" b="1">
                <a:cs typeface="Georgia"/>
              </a:rPr>
              <a:t>Challenge</a:t>
            </a:r>
            <a:r>
              <a:rPr lang="de-AT" b="1">
                <a:cs typeface="Georgia"/>
                <a:sym typeface="Georgia"/>
              </a:rPr>
              <a:t>:</a:t>
            </a:r>
            <a:r>
              <a:rPr lang="de-AT">
                <a:cs typeface="Georgia"/>
                <a:sym typeface="Georgia"/>
              </a:rPr>
              <a:t> Prices </a:t>
            </a:r>
            <a:r>
              <a:rPr lang="de-AT" err="1">
                <a:cs typeface="Georgia"/>
                <a:sym typeface="Georgia"/>
              </a:rPr>
              <a:t>react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to</a:t>
            </a:r>
            <a:r>
              <a:rPr lang="de-AT">
                <a:cs typeface="Georgia"/>
                <a:sym typeface="Georgia"/>
              </a:rPr>
              <a:t> </a:t>
            </a:r>
            <a:r>
              <a:rPr lang="de-AT" err="1">
                <a:cs typeface="Georgia"/>
                <a:sym typeface="Georgia"/>
              </a:rPr>
              <a:t>new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information</a:t>
            </a:r>
            <a:r>
              <a:rPr lang="de-AT">
                <a:cs typeface="Georgia"/>
                <a:sym typeface="Georgia"/>
              </a:rPr>
              <a:t> &amp; </a:t>
            </a:r>
            <a:r>
              <a:rPr lang="de-AT" err="1">
                <a:cs typeface="Georgia"/>
                <a:sym typeface="Georgia"/>
              </a:rPr>
              <a:t>expectations</a:t>
            </a:r>
            <a:r>
              <a:rPr lang="de-AT">
                <a:cs typeface="Georgia"/>
                <a:sym typeface="Georgia"/>
              </a:rPr>
              <a:t> → </a:t>
            </a:r>
            <a:r>
              <a:rPr lang="de-AT" err="1">
                <a:cs typeface="Georgia"/>
                <a:sym typeface="Georgia"/>
              </a:rPr>
              <a:t>hard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to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predict</a:t>
            </a:r>
            <a:endParaRPr lang="de-AT"/>
          </a:p>
          <a:p>
            <a:pPr marL="285750" indent="-285750"/>
            <a:endParaRPr lang="de-AT">
              <a:cs typeface="Georgia"/>
              <a:sym typeface="Georgia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de-AT" b="1" err="1">
                <a:cs typeface="Georgia"/>
                <a:sym typeface="Georgia"/>
              </a:rPr>
              <a:t>Role</a:t>
            </a:r>
            <a:r>
              <a:rPr lang="de-AT" b="1">
                <a:cs typeface="Georgia"/>
                <a:sym typeface="Georgia"/>
              </a:rPr>
              <a:t> </a:t>
            </a:r>
            <a:r>
              <a:rPr lang="de-AT" b="1" err="1">
                <a:cs typeface="Georgia"/>
                <a:sym typeface="Georgia"/>
              </a:rPr>
              <a:t>of</a:t>
            </a:r>
            <a:r>
              <a:rPr lang="de-AT" b="1">
                <a:cs typeface="Georgia"/>
                <a:sym typeface="Georgia"/>
              </a:rPr>
              <a:t> OPEC:</a:t>
            </a:r>
            <a:endParaRPr lang="de-AT" b="1"/>
          </a:p>
          <a:p>
            <a:pPr marL="12001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AT" err="1">
                <a:cs typeface="Georgia"/>
                <a:sym typeface="Georgia"/>
              </a:rPr>
              <a:t>Announces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production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decisions</a:t>
            </a:r>
            <a:r>
              <a:rPr lang="de-AT">
                <a:cs typeface="Georgia"/>
                <a:sym typeface="Georgia"/>
              </a:rPr>
              <a:t> &amp; </a:t>
            </a:r>
            <a:r>
              <a:rPr lang="de-AT" err="1">
                <a:cs typeface="Georgia"/>
                <a:sym typeface="Georgia"/>
              </a:rPr>
              <a:t>policy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guidance</a:t>
            </a:r>
            <a:r>
              <a:rPr lang="de-AT">
                <a:cs typeface="Georgia"/>
                <a:sym typeface="Georgia"/>
              </a:rPr>
              <a:t>.</a:t>
            </a:r>
            <a:endParaRPr lang="de-AT"/>
          </a:p>
          <a:p>
            <a:pPr marL="12001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AT" err="1">
                <a:cs typeface="Georgia"/>
                <a:sym typeface="Georgia"/>
              </a:rPr>
              <a:t>Markets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closely</a:t>
            </a:r>
            <a:r>
              <a:rPr lang="de-AT">
                <a:cs typeface="Georgia"/>
                <a:sym typeface="Georgia"/>
              </a:rPr>
              <a:t> follow OPEC </a:t>
            </a:r>
            <a:r>
              <a:rPr lang="de-AT" err="1">
                <a:cs typeface="Georgia"/>
                <a:sym typeface="Georgia"/>
              </a:rPr>
              <a:t>speeches</a:t>
            </a:r>
            <a:r>
              <a:rPr lang="de-AT">
                <a:cs typeface="Georgia"/>
                <a:sym typeface="Georgia"/>
              </a:rPr>
              <a:t> &amp; press </a:t>
            </a:r>
            <a:r>
              <a:rPr lang="de-AT" err="1">
                <a:cs typeface="Georgia"/>
                <a:sym typeface="Georgia"/>
              </a:rPr>
              <a:t>releases</a:t>
            </a:r>
            <a:r>
              <a:rPr lang="de-AT">
                <a:cs typeface="Georgia"/>
                <a:sym typeface="Georgia"/>
              </a:rPr>
              <a:t>.</a:t>
            </a:r>
            <a:endParaRPr lang="de-AT"/>
          </a:p>
          <a:p>
            <a:pPr marL="1200150" lvl="1" indent="-285750"/>
            <a:endParaRPr lang="de-AT">
              <a:cs typeface="Georgia"/>
              <a:sym typeface="Georgia"/>
            </a:endParaRPr>
          </a:p>
          <a:p>
            <a:pPr marL="1200150" lvl="1" indent="-285750"/>
            <a:endParaRPr lang="de-AT">
              <a:cs typeface="Georgia"/>
              <a:sym typeface="Georgia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de-AT" b="1">
                <a:cs typeface="Georgia"/>
                <a:sym typeface="Georgia"/>
              </a:rPr>
              <a:t>Research </a:t>
            </a:r>
            <a:r>
              <a:rPr lang="de-AT" b="1" err="1">
                <a:cs typeface="Georgia"/>
                <a:sym typeface="Georgia"/>
              </a:rPr>
              <a:t>question</a:t>
            </a:r>
            <a:r>
              <a:rPr lang="de-AT" b="1">
                <a:cs typeface="Georgia"/>
                <a:sym typeface="Georgia"/>
              </a:rPr>
              <a:t>:</a:t>
            </a:r>
            <a:endParaRPr lang="de-AT" b="1">
              <a:sym typeface="Georgia"/>
            </a:endParaRPr>
          </a:p>
          <a:p>
            <a:pPr marL="0" indent="0">
              <a:buNone/>
            </a:pPr>
            <a:r>
              <a:rPr lang="de-AT" i="1">
                <a:cs typeface="Georgia"/>
                <a:sym typeface="Georgia"/>
              </a:rPr>
              <a:t>Do OPEC </a:t>
            </a:r>
            <a:r>
              <a:rPr lang="de-AT" i="1" err="1">
                <a:cs typeface="Georgia"/>
                <a:sym typeface="Georgia"/>
              </a:rPr>
              <a:t>communications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contain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information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that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helps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us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explain</a:t>
            </a:r>
            <a:r>
              <a:rPr lang="de-AT" i="1">
                <a:cs typeface="Georgia"/>
                <a:sym typeface="Georgia"/>
              </a:rPr>
              <a:t> and </a:t>
            </a:r>
            <a:r>
              <a:rPr lang="de-AT" i="1" err="1">
                <a:cs typeface="Georgia"/>
                <a:sym typeface="Georgia"/>
              </a:rPr>
              <a:t>predict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oil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prices</a:t>
            </a:r>
            <a:r>
              <a:rPr lang="de-AT" i="1">
                <a:cs typeface="Georgia"/>
                <a:sym typeface="Georgia"/>
              </a:rPr>
              <a:t>, </a:t>
            </a:r>
            <a:r>
              <a:rPr lang="de-AT" i="1" err="1">
                <a:cs typeface="Georgia"/>
                <a:sym typeface="Georgia"/>
              </a:rPr>
              <a:t>beyond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standard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numerical</a:t>
            </a:r>
            <a:r>
              <a:rPr lang="de-AT" i="1">
                <a:cs typeface="Georgia"/>
                <a:sym typeface="Georgia"/>
              </a:rPr>
              <a:t> </a:t>
            </a:r>
            <a:r>
              <a:rPr lang="de-AT" i="1" err="1">
                <a:cs typeface="Georgia"/>
                <a:sym typeface="Georgia"/>
              </a:rPr>
              <a:t>fundamentals</a:t>
            </a:r>
            <a:r>
              <a:rPr lang="de-AT" i="1">
                <a:cs typeface="Georgia"/>
                <a:sym typeface="Georgia"/>
              </a:rPr>
              <a:t>?</a:t>
            </a:r>
            <a:endParaRPr lang="de-AT"/>
          </a:p>
        </p:txBody>
      </p:sp>
      <p:sp>
        <p:nvSpPr>
          <p:cNvPr id="169" name="Google Shape;169;p2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170" name="Google Shape;170;p2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2</a:t>
            </a:fld>
            <a:endParaRPr/>
          </a:p>
        </p:txBody>
      </p:sp>
      <p:sp>
        <p:nvSpPr>
          <p:cNvPr id="171" name="Google Shape;171;p2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buSzPts val="2400"/>
            </a:pPr>
            <a:r>
              <a:rPr lang="de-AT"/>
              <a:t>Motivation and Research Question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7759644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de-AT" b="1"/>
              <a:t>Channel:</a:t>
            </a:r>
            <a:r>
              <a:rPr lang="de-AT"/>
              <a:t> OPEC </a:t>
            </a:r>
            <a:r>
              <a:rPr lang="de-AT" err="1"/>
              <a:t>communication</a:t>
            </a:r>
            <a:r>
              <a:rPr lang="de-AT"/>
              <a:t> </a:t>
            </a:r>
            <a:r>
              <a:rPr lang="de-AT" err="1"/>
              <a:t>revises</a:t>
            </a:r>
            <a:r>
              <a:rPr lang="de-AT"/>
              <a:t> </a:t>
            </a:r>
            <a:r>
              <a:rPr lang="de-AT" err="1"/>
              <a:t>expectations</a:t>
            </a:r>
            <a:r>
              <a:rPr lang="de-AT"/>
              <a:t> </a:t>
            </a:r>
            <a:r>
              <a:rPr lang="de-AT" err="1"/>
              <a:t>about</a:t>
            </a:r>
            <a:endParaRPr lang="en-US"/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de-AT" err="1"/>
              <a:t>future</a:t>
            </a:r>
            <a:r>
              <a:rPr lang="de-AT"/>
              <a:t> </a:t>
            </a:r>
            <a:r>
              <a:rPr lang="de-AT" err="1"/>
              <a:t>production</a:t>
            </a:r>
            <a:r>
              <a:rPr lang="de-AT"/>
              <a:t>, </a:t>
            </a:r>
            <a:r>
              <a:rPr lang="de-AT" err="1"/>
              <a:t>cooperation</a:t>
            </a:r>
            <a:r>
              <a:rPr lang="de-AT"/>
              <a:t> </a:t>
            </a:r>
            <a:r>
              <a:rPr lang="de-AT" err="1"/>
              <a:t>with</a:t>
            </a:r>
            <a:r>
              <a:rPr lang="de-AT"/>
              <a:t> non-OPEC, </a:t>
            </a:r>
            <a:r>
              <a:rPr lang="de-AT" err="1"/>
              <a:t>geopolitical</a:t>
            </a:r>
            <a:r>
              <a:rPr lang="de-AT"/>
              <a:t> </a:t>
            </a:r>
            <a:r>
              <a:rPr lang="de-AT" err="1"/>
              <a:t>risks</a:t>
            </a:r>
            <a:endParaRPr lang="de-AT"/>
          </a:p>
          <a:p>
            <a:pPr lvl="1" indent="0">
              <a:buNone/>
            </a:pPr>
            <a:r>
              <a:rPr lang="de-AT"/>
              <a:t>→ These </a:t>
            </a:r>
            <a:r>
              <a:rPr lang="de-AT" sz="1600" err="1"/>
              <a:t>expectation</a:t>
            </a:r>
            <a:r>
              <a:rPr lang="de-AT" sz="1600"/>
              <a:t> </a:t>
            </a:r>
            <a:r>
              <a:rPr lang="de-AT" sz="1600" err="1"/>
              <a:t>changes</a:t>
            </a:r>
            <a:r>
              <a:rPr lang="de-AT" sz="1600"/>
              <a:t> </a:t>
            </a:r>
            <a:r>
              <a:rPr lang="de-AT" sz="1600" err="1"/>
              <a:t>move</a:t>
            </a:r>
            <a:r>
              <a:rPr lang="de-AT" sz="1600"/>
              <a:t> </a:t>
            </a:r>
            <a:r>
              <a:rPr lang="de-AT" sz="1600" err="1"/>
              <a:t>futures</a:t>
            </a:r>
            <a:r>
              <a:rPr lang="de-AT" sz="1600"/>
              <a:t> </a:t>
            </a:r>
            <a:r>
              <a:rPr lang="de-AT" sz="1600" err="1"/>
              <a:t>prices</a:t>
            </a:r>
            <a:r>
              <a:rPr lang="de-AT" sz="1600"/>
              <a:t>, </a:t>
            </a:r>
            <a:r>
              <a:rPr lang="de-AT" sz="1600" err="1"/>
              <a:t>spot</a:t>
            </a:r>
            <a:r>
              <a:rPr lang="de-AT" sz="1600"/>
              <a:t> </a:t>
            </a:r>
            <a:r>
              <a:rPr lang="de-AT" sz="1600" err="1"/>
              <a:t>prices</a:t>
            </a:r>
            <a:r>
              <a:rPr lang="de-AT" sz="1600"/>
              <a:t>, </a:t>
            </a:r>
            <a:r>
              <a:rPr lang="de-AT" sz="1600" err="1"/>
              <a:t>inventories</a:t>
            </a:r>
            <a:r>
              <a:rPr lang="de-AT" sz="1600"/>
              <a:t>, </a:t>
            </a:r>
            <a:r>
              <a:rPr lang="de-AT" err="1"/>
              <a:t>production</a:t>
            </a:r>
            <a:endParaRPr lang="de-AT"/>
          </a:p>
          <a:p>
            <a:pPr lvl="1" indent="0">
              <a:buNone/>
            </a:pPr>
            <a:endParaRPr lang="de-AT"/>
          </a:p>
          <a:p>
            <a:pPr marL="285750" indent="-285750">
              <a:buFont typeface="Wingdings" pitchFamily="2" charset="2"/>
              <a:buChar char="§"/>
            </a:pPr>
            <a:r>
              <a:rPr lang="de-AT" b="1" err="1"/>
              <a:t>Our</a:t>
            </a:r>
            <a:r>
              <a:rPr lang="de-AT" b="1"/>
              <a:t> </a:t>
            </a:r>
            <a:r>
              <a:rPr lang="de-AT" b="1" err="1"/>
              <a:t>approach</a:t>
            </a:r>
            <a:r>
              <a:rPr lang="de-AT" b="1"/>
              <a:t>:</a:t>
            </a:r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de-AT"/>
              <a:t>Extract </a:t>
            </a:r>
            <a:r>
              <a:rPr lang="de-AT" err="1"/>
              <a:t>text</a:t>
            </a:r>
            <a:r>
              <a:rPr lang="de-AT"/>
              <a:t> </a:t>
            </a:r>
            <a:r>
              <a:rPr lang="de-AT" sz="1600" err="1"/>
              <a:t>from</a:t>
            </a:r>
            <a:r>
              <a:rPr lang="de-AT" sz="1600"/>
              <a:t> </a:t>
            </a:r>
            <a:r>
              <a:rPr lang="de-AT" err="1"/>
              <a:t>speeches</a:t>
            </a:r>
            <a:r>
              <a:rPr lang="de-AT"/>
              <a:t> &amp; press </a:t>
            </a:r>
            <a:r>
              <a:rPr lang="de-AT" err="1"/>
              <a:t>releases</a:t>
            </a:r>
            <a:r>
              <a:rPr lang="de-AT"/>
              <a:t>.</a:t>
            </a:r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de-AT"/>
              <a:t>Turn </a:t>
            </a:r>
            <a:r>
              <a:rPr lang="de-AT" err="1"/>
              <a:t>it</a:t>
            </a:r>
            <a:r>
              <a:rPr lang="de-AT"/>
              <a:t> </a:t>
            </a:r>
            <a:r>
              <a:rPr lang="de-AT" err="1"/>
              <a:t>into</a:t>
            </a:r>
            <a:r>
              <a:rPr lang="de-AT"/>
              <a:t> high-dimensional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features</a:t>
            </a:r>
            <a:r>
              <a:rPr lang="de-AT"/>
              <a:t>.</a:t>
            </a:r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de-AT"/>
              <a:t>Combine </a:t>
            </a:r>
            <a:r>
              <a:rPr lang="de-AT" err="1"/>
              <a:t>with</a:t>
            </a:r>
            <a:r>
              <a:rPr lang="de-AT"/>
              <a:t> </a:t>
            </a:r>
            <a:r>
              <a:rPr lang="de-AT" err="1"/>
              <a:t>numerical</a:t>
            </a:r>
            <a:r>
              <a:rPr lang="de-AT"/>
              <a:t> </a:t>
            </a:r>
            <a:r>
              <a:rPr lang="de-AT" sz="1600" err="1"/>
              <a:t>oil</a:t>
            </a:r>
            <a:r>
              <a:rPr lang="de-AT" sz="1600"/>
              <a:t> </a:t>
            </a:r>
            <a:r>
              <a:rPr lang="de-AT" sz="1600" err="1"/>
              <a:t>market</a:t>
            </a:r>
            <a:r>
              <a:rPr lang="de-AT" sz="1600"/>
              <a:t> </a:t>
            </a:r>
            <a:r>
              <a:rPr lang="de-AT" sz="1600" err="1"/>
              <a:t>fundamentals</a:t>
            </a:r>
            <a:r>
              <a:rPr lang="de-AT"/>
              <a:t>.</a:t>
            </a:r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de-AT"/>
              <a:t>Use LASSO and </a:t>
            </a:r>
            <a:r>
              <a:rPr lang="de-AT" err="1"/>
              <a:t>other</a:t>
            </a:r>
            <a:r>
              <a:rPr lang="de-AT"/>
              <a:t> </a:t>
            </a:r>
            <a:r>
              <a:rPr lang="de-AT" err="1"/>
              <a:t>models</a:t>
            </a:r>
            <a:r>
              <a:rPr lang="de-AT"/>
              <a:t> 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see</a:t>
            </a:r>
            <a:r>
              <a:rPr lang="de-AT"/>
              <a:t> </a:t>
            </a:r>
            <a:r>
              <a:rPr lang="de-AT" err="1"/>
              <a:t>whether</a:t>
            </a:r>
            <a:r>
              <a:rPr lang="de-AT"/>
              <a:t> </a:t>
            </a:r>
            <a:r>
              <a:rPr lang="de-AT" err="1"/>
              <a:t>the</a:t>
            </a:r>
            <a:r>
              <a:rPr lang="de-AT"/>
              <a:t>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adds</a:t>
            </a:r>
            <a:r>
              <a:rPr lang="de-AT"/>
              <a:t> </a:t>
            </a:r>
            <a:r>
              <a:rPr lang="de-AT" err="1"/>
              <a:t>predictive</a:t>
            </a:r>
            <a:r>
              <a:rPr lang="de-AT"/>
              <a:t> power.</a:t>
            </a:r>
          </a:p>
          <a:p>
            <a:pPr marL="0" lvl="0" indent="0" algn="l">
              <a:lnSpc>
                <a:spcPct val="100000"/>
              </a:lnSpc>
              <a:spcAft>
                <a:spcPts val="0"/>
              </a:spcAft>
              <a:buFont typeface="Arial,Sans-Serif"/>
              <a:buChar char="•"/>
            </a:pPr>
            <a:endParaRPr lang="de-AT"/>
          </a:p>
          <a:p>
            <a:pPr marL="266700" lvl="0" indent="-165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177" name="Google Shape;177;p3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3</a:t>
            </a:fld>
            <a:endParaRPr/>
          </a:p>
        </p:txBody>
      </p:sp>
      <p:sp>
        <p:nvSpPr>
          <p:cNvPr id="179" name="Google Shape;179;p3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r>
              <a:rPr lang="de-AT"/>
              <a:t>Framework &amp; Approach</a:t>
            </a:r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>
            <a:spLocks noGrp="1"/>
          </p:cNvSpPr>
          <p:nvPr>
            <p:ph type="body" idx="1"/>
          </p:nvPr>
        </p:nvSpPr>
        <p:spPr>
          <a:xfrm>
            <a:off x="462018" y="1344613"/>
            <a:ext cx="8432599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de-AT" b="1" err="1">
                <a:cs typeface="Georgia"/>
                <a:sym typeface="Georgia"/>
              </a:rPr>
              <a:t>Känzig</a:t>
            </a:r>
            <a:r>
              <a:rPr lang="de-AT" b="1">
                <a:cs typeface="Georgia"/>
                <a:sym typeface="Georgia"/>
              </a:rPr>
              <a:t> (2021, AER) – Oil Supply News Shocks  </a:t>
            </a:r>
            <a:endParaRPr lang="de-AT" b="1"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>
                <a:cs typeface="Georgia"/>
                <a:sym typeface="Georgia"/>
              </a:rPr>
              <a:t>Uses</a:t>
            </a:r>
            <a:r>
              <a:rPr lang="de-AT">
                <a:cs typeface="Georgia"/>
                <a:sym typeface="Georgia"/>
              </a:rPr>
              <a:t> high-</a:t>
            </a:r>
            <a:r>
              <a:rPr lang="de-AT" err="1">
                <a:cs typeface="Georgia"/>
                <a:sym typeface="Georgia"/>
              </a:rPr>
              <a:t>frequency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changes</a:t>
            </a:r>
            <a:r>
              <a:rPr lang="de-AT">
                <a:cs typeface="Georgia"/>
                <a:sym typeface="Georgia"/>
              </a:rPr>
              <a:t> in </a:t>
            </a:r>
            <a:r>
              <a:rPr lang="de-AT" err="1">
                <a:cs typeface="Georgia"/>
                <a:sym typeface="Georgia"/>
              </a:rPr>
              <a:t>oil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futures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around</a:t>
            </a:r>
            <a:r>
              <a:rPr lang="de-AT">
                <a:cs typeface="Georgia"/>
                <a:sym typeface="Georgia"/>
              </a:rPr>
              <a:t> OPEC </a:t>
            </a:r>
            <a:r>
              <a:rPr lang="de-AT" err="1">
                <a:cs typeface="Georgia"/>
                <a:sym typeface="Georgia"/>
              </a:rPr>
              <a:t>announcements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as</a:t>
            </a:r>
            <a:r>
              <a:rPr lang="de-AT">
                <a:cs typeface="Georgia"/>
                <a:sym typeface="Georgia"/>
              </a:rPr>
              <a:t> an external </a:t>
            </a:r>
            <a:r>
              <a:rPr lang="de-AT" err="1">
                <a:cs typeface="Georgia"/>
                <a:sym typeface="Georgia"/>
              </a:rPr>
              <a:t>instrument</a:t>
            </a:r>
            <a:r>
              <a:rPr lang="de-AT">
                <a:cs typeface="Georgia"/>
                <a:sym typeface="Georgia"/>
              </a:rPr>
              <a:t> in a VAR.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>
                <a:cs typeface="Georgia"/>
                <a:sym typeface="Georgia"/>
              </a:rPr>
              <a:t>Identifies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oil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supply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news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shocks</a:t>
            </a:r>
            <a:r>
              <a:rPr lang="de-AT">
                <a:cs typeface="Georgia"/>
                <a:sym typeface="Georgia"/>
              </a:rPr>
              <a:t>: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>
                <a:cs typeface="Georgia"/>
                <a:sym typeface="Georgia"/>
              </a:rPr>
              <a:t>Negative </a:t>
            </a:r>
            <a:r>
              <a:rPr lang="de-AT" err="1">
                <a:cs typeface="Georgia"/>
                <a:sym typeface="Georgia"/>
              </a:rPr>
              <a:t>news</a:t>
            </a:r>
            <a:r>
              <a:rPr lang="de-AT">
                <a:cs typeface="Georgia"/>
                <a:sym typeface="Georgia"/>
              </a:rPr>
              <a:t> (</a:t>
            </a:r>
            <a:r>
              <a:rPr lang="de-AT" err="1">
                <a:cs typeface="Georgia"/>
                <a:sym typeface="Georgia"/>
              </a:rPr>
              <a:t>expected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lower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future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supply</a:t>
            </a:r>
            <a:r>
              <a:rPr lang="de-AT">
                <a:cs typeface="Georgia"/>
                <a:sym typeface="Georgia"/>
              </a:rPr>
              <a:t>) → immediate </a:t>
            </a:r>
            <a:r>
              <a:rPr lang="de-AT" err="1">
                <a:cs typeface="Georgia"/>
                <a:sym typeface="Georgia"/>
              </a:rPr>
              <a:t>oil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price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increase</a:t>
            </a:r>
            <a:r>
              <a:rPr lang="de-AT">
                <a:cs typeface="Georgia"/>
                <a:sym typeface="Georgia"/>
              </a:rPr>
              <a:t>, fall in </a:t>
            </a:r>
            <a:r>
              <a:rPr lang="de-AT" err="1">
                <a:cs typeface="Georgia"/>
                <a:sym typeface="Georgia"/>
              </a:rPr>
              <a:t>production</a:t>
            </a:r>
            <a:r>
              <a:rPr lang="de-AT">
                <a:cs typeface="Georgia"/>
                <a:sym typeface="Georgia"/>
              </a:rPr>
              <a:t>, </a:t>
            </a:r>
            <a:r>
              <a:rPr lang="de-AT" err="1">
                <a:cs typeface="Georgia"/>
                <a:sym typeface="Georgia"/>
              </a:rPr>
              <a:t>higher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inventories</a:t>
            </a:r>
            <a:r>
              <a:rPr lang="de-AT">
                <a:cs typeface="Georgia"/>
                <a:sym typeface="Georgia"/>
              </a:rPr>
              <a:t>.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>
                <a:cs typeface="Georgia"/>
                <a:sym typeface="Georgia"/>
              </a:rPr>
              <a:t>Explain</a:t>
            </a:r>
            <a:r>
              <a:rPr lang="de-AT">
                <a:cs typeface="Georgia"/>
                <a:sym typeface="Georgia"/>
              </a:rPr>
              <a:t> a </a:t>
            </a:r>
            <a:r>
              <a:rPr lang="de-AT" err="1">
                <a:cs typeface="Georgia"/>
                <a:sym typeface="Georgia"/>
              </a:rPr>
              <a:t>meaningful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share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of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oil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price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variation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over</a:t>
            </a:r>
            <a:r>
              <a:rPr lang="de-AT">
                <a:cs typeface="Georgia"/>
                <a:sym typeface="Georgia"/>
              </a:rPr>
              <a:t> time.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lang="de-AT" b="1">
              <a:ea typeface="Georgia"/>
              <a:cs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de-AT" b="1" err="1">
                <a:cs typeface="Georgia"/>
                <a:sym typeface="Georgia"/>
              </a:rPr>
              <a:t>Relevance</a:t>
            </a:r>
            <a:r>
              <a:rPr lang="de-AT" b="1">
                <a:cs typeface="Georgia"/>
                <a:sym typeface="Georgia"/>
              </a:rPr>
              <a:t> </a:t>
            </a:r>
            <a:r>
              <a:rPr lang="de-AT" b="1" err="1">
                <a:cs typeface="Georgia"/>
                <a:sym typeface="Georgia"/>
              </a:rPr>
              <a:t>for</a:t>
            </a:r>
            <a:r>
              <a:rPr lang="de-AT" b="1">
                <a:cs typeface="Georgia"/>
                <a:sym typeface="Georgia"/>
              </a:rPr>
              <a:t> </a:t>
            </a:r>
            <a:r>
              <a:rPr lang="de-AT" b="1" err="1">
                <a:cs typeface="Georgia"/>
                <a:sym typeface="Georgia"/>
              </a:rPr>
              <a:t>us</a:t>
            </a:r>
            <a:endParaRPr lang="de-AT" b="1" err="1">
              <a:cs typeface="Georgia"/>
            </a:endParaRPr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>
                <a:cs typeface="Georgia"/>
                <a:sym typeface="Georgia"/>
              </a:rPr>
              <a:t>Confirms</a:t>
            </a:r>
            <a:r>
              <a:rPr lang="de-AT">
                <a:cs typeface="Georgia"/>
                <a:sym typeface="Georgia"/>
              </a:rPr>
              <a:t>: OPEC </a:t>
            </a:r>
            <a:r>
              <a:rPr lang="de-AT" err="1">
                <a:cs typeface="Georgia"/>
                <a:sym typeface="Georgia"/>
              </a:rPr>
              <a:t>announcements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contain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forward-looking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information</a:t>
            </a:r>
            <a:r>
              <a:rPr lang="de-AT">
                <a:cs typeface="Georgia"/>
                <a:sym typeface="Georgia"/>
              </a:rPr>
              <a:t>.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>
                <a:cs typeface="Georgia"/>
                <a:sym typeface="Georgia"/>
              </a:rPr>
              <a:t>We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similarly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treat</a:t>
            </a:r>
            <a:r>
              <a:rPr lang="de-AT">
                <a:cs typeface="Georgia"/>
                <a:sym typeface="Georgia"/>
              </a:rPr>
              <a:t> OPEC </a:t>
            </a:r>
            <a:r>
              <a:rPr lang="de-AT" err="1">
                <a:cs typeface="Georgia"/>
                <a:sym typeface="Georgia"/>
              </a:rPr>
              <a:t>communication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as</a:t>
            </a:r>
            <a:r>
              <a:rPr lang="de-AT">
                <a:cs typeface="Georgia"/>
                <a:sym typeface="Georgia"/>
              </a:rPr>
              <a:t> a </a:t>
            </a:r>
            <a:r>
              <a:rPr lang="de-AT" err="1">
                <a:cs typeface="Georgia"/>
                <a:sym typeface="Georgia"/>
              </a:rPr>
              <a:t>signal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about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future</a:t>
            </a:r>
            <a:r>
              <a:rPr lang="de-AT">
                <a:cs typeface="Georgia"/>
                <a:sym typeface="Georgia"/>
              </a:rPr>
              <a:t> </a:t>
            </a:r>
            <a:r>
              <a:rPr lang="de-AT" err="1">
                <a:cs typeface="Georgia"/>
                <a:sym typeface="Georgia"/>
              </a:rPr>
              <a:t>supply</a:t>
            </a:r>
            <a:r>
              <a:rPr lang="de-AT">
                <a:cs typeface="Georgia"/>
                <a:sym typeface="Georgia"/>
              </a:rPr>
              <a:t> </a:t>
            </a:r>
            <a:endParaRPr/>
          </a:p>
        </p:txBody>
      </p:sp>
      <p:sp>
        <p:nvSpPr>
          <p:cNvPr id="193" name="Google Shape;193;p5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194" name="Google Shape;194;p5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4</a:t>
            </a:fld>
            <a:endParaRPr/>
          </a:p>
        </p:txBody>
      </p:sp>
      <p:sp>
        <p:nvSpPr>
          <p:cNvPr id="195" name="Google Shape;195;p5"/>
          <p:cNvSpPr txBox="1">
            <a:spLocks noGrp="1"/>
          </p:cNvSpPr>
          <p:nvPr>
            <p:ph type="title"/>
          </p:nvPr>
        </p:nvSpPr>
        <p:spPr>
          <a:xfrm>
            <a:off x="462407" y="139700"/>
            <a:ext cx="7135425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de-AT"/>
              <a:t>Literature: </a:t>
            </a:r>
            <a:r>
              <a:rPr lang="de-AT" b="1"/>
              <a:t>OPEC Announcements &amp; Oil Supply News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8482476" cy="385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AT" b="1">
                <a:cs typeface="Verdana" panose="020B0604030504040204" pitchFamily="34" charset="0"/>
                <a:sym typeface="Georgia"/>
              </a:rPr>
              <a:t>Brunetti et al. (2024) – “</a:t>
            </a:r>
            <a:r>
              <a:rPr lang="de-AT" b="1" err="1">
                <a:cs typeface="Verdana" panose="020B0604030504040204" pitchFamily="34" charset="0"/>
                <a:sym typeface="Georgia"/>
              </a:rPr>
              <a:t>Reasons</a:t>
            </a:r>
            <a:r>
              <a:rPr lang="de-AT" b="1">
                <a:cs typeface="Verdana" panose="020B0604030504040204" pitchFamily="34" charset="0"/>
                <a:sym typeface="Georgia"/>
              </a:rPr>
              <a:t> Behind Words: OPEC Narratives and </a:t>
            </a:r>
            <a:r>
              <a:rPr lang="de-AT" b="1" err="1">
                <a:cs typeface="Verdana" panose="020B0604030504040204" pitchFamily="34" charset="0"/>
                <a:sym typeface="Georgia"/>
              </a:rPr>
              <a:t>the</a:t>
            </a:r>
            <a:r>
              <a:rPr lang="de-AT" b="1">
                <a:cs typeface="Verdana" panose="020B0604030504040204" pitchFamily="34" charset="0"/>
                <a:sym typeface="Georgia"/>
              </a:rPr>
              <a:t> Oil Market”</a:t>
            </a:r>
            <a:endParaRPr lang="de-AT"/>
          </a:p>
          <a:p>
            <a:pPr>
              <a:buNone/>
            </a:pPr>
            <a:endParaRPr lang="de-AT" b="1">
              <a:cs typeface="Verdana" panose="020B0604030504040204" pitchFamily="34" charset="0"/>
              <a:sym typeface="Georgia"/>
            </a:endParaRPr>
          </a:p>
          <a:p>
            <a:pPr marL="285750" indent="-285750"/>
            <a:r>
              <a:rPr lang="de-AT">
                <a:cs typeface="Verdana" panose="020B0604030504040204" pitchFamily="34" charset="0"/>
                <a:sym typeface="Georgia"/>
              </a:rPr>
              <a:t>Use </a:t>
            </a:r>
            <a:r>
              <a:rPr lang="de-AT" err="1">
                <a:cs typeface="Verdana" panose="020B0604030504040204" pitchFamily="34" charset="0"/>
                <a:sym typeface="Georgia"/>
              </a:rPr>
              <a:t>text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methods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to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build</a:t>
            </a:r>
            <a:r>
              <a:rPr lang="de-AT">
                <a:cs typeface="Verdana" panose="020B0604030504040204" pitchFamily="34" charset="0"/>
                <a:sym typeface="Georgia"/>
              </a:rPr>
              <a:t> </a:t>
            </a:r>
            <a:r>
              <a:rPr lang="de-AT" b="1">
                <a:cs typeface="Verdana" panose="020B0604030504040204" pitchFamily="34" charset="0"/>
                <a:sym typeface="Georgia"/>
              </a:rPr>
              <a:t>narrative </a:t>
            </a:r>
            <a:r>
              <a:rPr lang="de-AT" b="1" err="1">
                <a:cs typeface="Verdana" panose="020B0604030504040204" pitchFamily="34" charset="0"/>
                <a:sym typeface="Georgia"/>
              </a:rPr>
              <a:t>measures</a:t>
            </a:r>
            <a:r>
              <a:rPr lang="de-AT">
                <a:cs typeface="Verdana" panose="020B0604030504040204" pitchFamily="34" charset="0"/>
                <a:sym typeface="Georgia"/>
              </a:rPr>
              <a:t> </a:t>
            </a:r>
            <a:r>
              <a:rPr lang="de-AT" err="1">
                <a:cs typeface="Verdana" panose="020B0604030504040204" pitchFamily="34" charset="0"/>
                <a:sym typeface="Georgia"/>
              </a:rPr>
              <a:t>from</a:t>
            </a:r>
            <a:r>
              <a:rPr lang="de-AT">
                <a:cs typeface="Verdana" panose="020B0604030504040204" pitchFamily="34" charset="0"/>
                <a:sym typeface="Georgia"/>
              </a:rPr>
              <a:t> OPEC </a:t>
            </a:r>
            <a:r>
              <a:rPr lang="de-AT" err="1">
                <a:cs typeface="Verdana" panose="020B0604030504040204" pitchFamily="34" charset="0"/>
                <a:sym typeface="Georgia"/>
              </a:rPr>
              <a:t>communication</a:t>
            </a:r>
            <a:r>
              <a:rPr lang="de-AT">
                <a:cs typeface="Verdana" panose="020B0604030504040204" pitchFamily="34" charset="0"/>
                <a:sym typeface="Georgia"/>
              </a:rPr>
              <a:t>.</a:t>
            </a:r>
            <a:endParaRPr lang="de-AT"/>
          </a:p>
          <a:p>
            <a:pPr marL="285750" indent="-285750"/>
            <a:r>
              <a:rPr lang="de-AT">
                <a:cs typeface="Verdana" panose="020B0604030504040204" pitchFamily="34" charset="0"/>
                <a:sym typeface="Georgia"/>
              </a:rPr>
              <a:t>Show </a:t>
            </a:r>
            <a:r>
              <a:rPr lang="de-AT" err="1">
                <a:cs typeface="Verdana" panose="020B0604030504040204" pitchFamily="34" charset="0"/>
                <a:sym typeface="Georgia"/>
              </a:rPr>
              <a:t>that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some</a:t>
            </a:r>
            <a:r>
              <a:rPr lang="de-AT">
                <a:cs typeface="Verdana" panose="020B0604030504040204" pitchFamily="34" charset="0"/>
                <a:sym typeface="Georgia"/>
              </a:rPr>
              <a:t> narratives </a:t>
            </a:r>
            <a:r>
              <a:rPr lang="de-AT" err="1">
                <a:cs typeface="Verdana" panose="020B0604030504040204" pitchFamily="34" charset="0"/>
                <a:sym typeface="Georgia"/>
              </a:rPr>
              <a:t>have</a:t>
            </a:r>
            <a:r>
              <a:rPr lang="de-AT">
                <a:cs typeface="Verdana" panose="020B0604030504040204" pitchFamily="34" charset="0"/>
                <a:sym typeface="Georgia"/>
              </a:rPr>
              <a:t> </a:t>
            </a:r>
            <a:r>
              <a:rPr lang="de-AT" err="1">
                <a:cs typeface="Verdana" panose="020B0604030504040204" pitchFamily="34" charset="0"/>
                <a:sym typeface="Georgia"/>
              </a:rPr>
              <a:t>only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small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direct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effects</a:t>
            </a:r>
            <a:r>
              <a:rPr lang="de-AT">
                <a:cs typeface="Verdana" panose="020B0604030504040204" pitchFamily="34" charset="0"/>
                <a:sym typeface="Georgia"/>
              </a:rPr>
              <a:t> on </a:t>
            </a:r>
            <a:r>
              <a:rPr lang="de-AT" err="1">
                <a:cs typeface="Verdana" panose="020B0604030504040204" pitchFamily="34" charset="0"/>
                <a:sym typeface="Georgia"/>
              </a:rPr>
              <a:t>prices</a:t>
            </a:r>
            <a:r>
              <a:rPr lang="de-AT">
                <a:cs typeface="Verdana" panose="020B0604030504040204" pitchFamily="34" charset="0"/>
                <a:sym typeface="Georgia"/>
              </a:rPr>
              <a:t>,</a:t>
            </a:r>
            <a:endParaRPr lang="de-AT"/>
          </a:p>
          <a:p>
            <a:pPr indent="0">
              <a:buNone/>
            </a:pPr>
            <a:r>
              <a:rPr lang="de-AT">
                <a:cs typeface="Verdana" panose="020B0604030504040204" pitchFamily="34" charset="0"/>
                <a:sym typeface="Georgia"/>
              </a:rPr>
              <a:t>but </a:t>
            </a:r>
            <a:r>
              <a:rPr lang="de-AT" err="1">
                <a:cs typeface="Verdana" panose="020B0604030504040204" pitchFamily="34" charset="0"/>
                <a:sym typeface="Georgia"/>
              </a:rPr>
              <a:t>they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help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identify</a:t>
            </a:r>
            <a:r>
              <a:rPr lang="de-AT">
                <a:cs typeface="Verdana" panose="020B0604030504040204" pitchFamily="34" charset="0"/>
                <a:sym typeface="Georgia"/>
              </a:rPr>
              <a:t> </a:t>
            </a:r>
            <a:r>
              <a:rPr lang="de-AT" err="1">
                <a:cs typeface="Verdana" panose="020B0604030504040204" pitchFamily="34" charset="0"/>
                <a:sym typeface="Georgia"/>
              </a:rPr>
              <a:t>which</a:t>
            </a:r>
            <a:r>
              <a:rPr lang="de-AT">
                <a:cs typeface="Verdana" panose="020B0604030504040204" pitchFamily="34" charset="0"/>
                <a:sym typeface="Georgia"/>
              </a:rPr>
              <a:t> type </a:t>
            </a:r>
            <a:r>
              <a:rPr lang="de-AT" err="1">
                <a:cs typeface="Verdana" panose="020B0604030504040204" pitchFamily="34" charset="0"/>
                <a:sym typeface="Georgia"/>
              </a:rPr>
              <a:t>of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shock</a:t>
            </a:r>
            <a:r>
              <a:rPr lang="de-AT">
                <a:cs typeface="Verdana" panose="020B0604030504040204" pitchFamily="34" charset="0"/>
                <a:sym typeface="Georgia"/>
              </a:rPr>
              <a:t> (</a:t>
            </a:r>
            <a:r>
              <a:rPr lang="de-AT" err="1">
                <a:cs typeface="Verdana" panose="020B0604030504040204" pitchFamily="34" charset="0"/>
                <a:sym typeface="Georgia"/>
              </a:rPr>
              <a:t>demand</a:t>
            </a:r>
            <a:r>
              <a:rPr lang="de-AT">
                <a:cs typeface="Verdana" panose="020B0604030504040204" pitchFamily="34" charset="0"/>
                <a:sym typeface="Georgia"/>
              </a:rPr>
              <a:t>, </a:t>
            </a:r>
            <a:r>
              <a:rPr lang="de-AT" err="1">
                <a:cs typeface="Verdana" panose="020B0604030504040204" pitchFamily="34" charset="0"/>
                <a:sym typeface="Georgia"/>
              </a:rPr>
              <a:t>supply</a:t>
            </a:r>
            <a:r>
              <a:rPr lang="de-AT">
                <a:cs typeface="Verdana" panose="020B0604030504040204" pitchFamily="34" charset="0"/>
                <a:sym typeface="Georgia"/>
              </a:rPr>
              <a:t>, </a:t>
            </a:r>
            <a:r>
              <a:rPr lang="de-AT" err="1">
                <a:cs typeface="Verdana" panose="020B0604030504040204" pitchFamily="34" charset="0"/>
                <a:sym typeface="Georgia"/>
              </a:rPr>
              <a:t>expectations</a:t>
            </a:r>
            <a:r>
              <a:rPr lang="de-AT">
                <a:cs typeface="Verdana" panose="020B0604030504040204" pitchFamily="34" charset="0"/>
                <a:sym typeface="Georgia"/>
              </a:rPr>
              <a:t>) </a:t>
            </a:r>
            <a:r>
              <a:rPr lang="de-AT" err="1">
                <a:cs typeface="Verdana" panose="020B0604030504040204" pitchFamily="34" charset="0"/>
                <a:sym typeface="Georgia"/>
              </a:rPr>
              <a:t>is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driving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the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market</a:t>
            </a:r>
            <a:r>
              <a:rPr lang="de-AT">
                <a:cs typeface="Verdana" panose="020B0604030504040204" pitchFamily="34" charset="0"/>
                <a:sym typeface="Georgia"/>
              </a:rPr>
              <a:t>.</a:t>
            </a:r>
            <a:endParaRPr lang="de-AT">
              <a:sym typeface="Georgia"/>
            </a:endParaRPr>
          </a:p>
          <a:p>
            <a:pPr lvl="0" algn="l">
              <a:lnSpc>
                <a:spcPct val="100000"/>
              </a:lnSpc>
              <a:spcAft>
                <a:spcPts val="0"/>
              </a:spcAft>
              <a:buNone/>
            </a:pPr>
            <a:br>
              <a:rPr lang="de-AT"/>
            </a:br>
            <a:endParaRPr lang="de-AT"/>
          </a:p>
          <a:p>
            <a:pPr>
              <a:buNone/>
            </a:pPr>
            <a:r>
              <a:rPr lang="de-AT" err="1">
                <a:cs typeface="Verdana" panose="020B0604030504040204" pitchFamily="34" charset="0"/>
                <a:sym typeface="Georgia"/>
              </a:rPr>
              <a:t>Why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this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matters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for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us</a:t>
            </a:r>
            <a:endParaRPr lang="de-AT" err="1"/>
          </a:p>
          <a:p>
            <a:pPr marL="285750" indent="-285750"/>
            <a:r>
              <a:rPr lang="de-AT">
                <a:cs typeface="Verdana" panose="020B0604030504040204" pitchFamily="34" charset="0"/>
                <a:sym typeface="Georgia"/>
              </a:rPr>
              <a:t>Shows </a:t>
            </a:r>
            <a:r>
              <a:rPr lang="de-AT" err="1">
                <a:cs typeface="Verdana" panose="020B0604030504040204" pitchFamily="34" charset="0"/>
                <a:sym typeface="Georgia"/>
              </a:rPr>
              <a:t>that</a:t>
            </a:r>
            <a:r>
              <a:rPr lang="de-AT">
                <a:cs typeface="Verdana" panose="020B0604030504040204" pitchFamily="34" charset="0"/>
                <a:sym typeface="Georgia"/>
              </a:rPr>
              <a:t> OPEC </a:t>
            </a:r>
            <a:r>
              <a:rPr lang="de-AT" err="1">
                <a:cs typeface="Verdana" panose="020B0604030504040204" pitchFamily="34" charset="0"/>
                <a:sym typeface="Georgia"/>
              </a:rPr>
              <a:t>text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can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be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measured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systematically</a:t>
            </a:r>
            <a:r>
              <a:rPr lang="de-AT">
                <a:cs typeface="Verdana" panose="020B0604030504040204" pitchFamily="34" charset="0"/>
                <a:sym typeface="Georgia"/>
              </a:rPr>
              <a:t>, not just </a:t>
            </a:r>
            <a:r>
              <a:rPr lang="de-AT" err="1">
                <a:cs typeface="Verdana" panose="020B0604030504040204" pitchFamily="34" charset="0"/>
                <a:sym typeface="Georgia"/>
              </a:rPr>
              <a:t>read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qualitatively</a:t>
            </a:r>
            <a:r>
              <a:rPr lang="de-AT">
                <a:cs typeface="Verdana" panose="020B0604030504040204" pitchFamily="34" charset="0"/>
                <a:sym typeface="Georgia"/>
              </a:rPr>
              <a:t>.</a:t>
            </a:r>
            <a:endParaRPr lang="de-AT"/>
          </a:p>
          <a:p>
            <a:pPr marL="285750" indent="-285750"/>
            <a:r>
              <a:rPr lang="de-AT" err="1">
                <a:cs typeface="Verdana" panose="020B0604030504040204" pitchFamily="34" charset="0"/>
                <a:sym typeface="Georgia"/>
              </a:rPr>
              <a:t>Motivates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our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approach</a:t>
            </a:r>
            <a:r>
              <a:rPr lang="de-AT">
                <a:cs typeface="Verdana" panose="020B0604030504040204" pitchFamily="34" charset="0"/>
                <a:sym typeface="Georgia"/>
              </a:rPr>
              <a:t>: </a:t>
            </a:r>
            <a:r>
              <a:rPr lang="de-AT" err="1">
                <a:cs typeface="Verdana" panose="020B0604030504040204" pitchFamily="34" charset="0"/>
                <a:sym typeface="Georgia"/>
              </a:rPr>
              <a:t>use</a:t>
            </a:r>
            <a:r>
              <a:rPr lang="de-AT">
                <a:cs typeface="Verdana" panose="020B0604030504040204" pitchFamily="34" charset="0"/>
                <a:sym typeface="Georgia"/>
              </a:rPr>
              <a:t> </a:t>
            </a:r>
            <a:r>
              <a:rPr lang="de-AT" err="1">
                <a:cs typeface="Verdana" panose="020B0604030504040204" pitchFamily="34" charset="0"/>
                <a:sym typeface="Georgia"/>
              </a:rPr>
              <a:t>bag-of-words</a:t>
            </a:r>
            <a:r>
              <a:rPr lang="de-AT">
                <a:cs typeface="Verdana" panose="020B0604030504040204" pitchFamily="34" charset="0"/>
                <a:sym typeface="Georgia"/>
              </a:rPr>
              <a:t> + LASSO and </a:t>
            </a:r>
            <a:r>
              <a:rPr lang="de-AT" err="1">
                <a:cs typeface="Verdana" panose="020B0604030504040204" pitchFamily="34" charset="0"/>
                <a:sym typeface="Georgia"/>
              </a:rPr>
              <a:t>let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the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data</a:t>
            </a:r>
            <a:r>
              <a:rPr lang="de-AT">
                <a:cs typeface="Verdana" panose="020B0604030504040204" pitchFamily="34" charset="0"/>
                <a:sym typeface="Georgia"/>
              </a:rPr>
              <a:t> pick </a:t>
            </a:r>
            <a:r>
              <a:rPr lang="de-AT" err="1">
                <a:cs typeface="Verdana" panose="020B0604030504040204" pitchFamily="34" charset="0"/>
                <a:sym typeface="Georgia"/>
              </a:rPr>
              <a:t>which</a:t>
            </a:r>
            <a:r>
              <a:rPr lang="de-AT">
                <a:cs typeface="Verdana" panose="020B0604030504040204" pitchFamily="34" charset="0"/>
                <a:sym typeface="Georgia"/>
              </a:rPr>
              <a:t> </a:t>
            </a:r>
            <a:r>
              <a:rPr lang="de-AT" err="1">
                <a:cs typeface="Verdana" panose="020B0604030504040204" pitchFamily="34" charset="0"/>
                <a:sym typeface="Georgia"/>
              </a:rPr>
              <a:t>words</a:t>
            </a:r>
            <a:r>
              <a:rPr lang="de-AT">
                <a:cs typeface="Verdana" panose="020B0604030504040204" pitchFamily="34" charset="0"/>
                <a:sym typeface="Georgia"/>
              </a:rPr>
              <a:t>/</a:t>
            </a:r>
            <a:r>
              <a:rPr lang="de-AT" err="1">
                <a:cs typeface="Verdana" panose="020B0604030504040204" pitchFamily="34" charset="0"/>
                <a:sym typeface="Georgia"/>
              </a:rPr>
              <a:t>phrases</a:t>
            </a:r>
            <a:r>
              <a:rPr lang="de-AT">
                <a:cs typeface="Verdana" panose="020B0604030504040204" pitchFamily="34" charset="0"/>
                <a:sym typeface="Georgia"/>
              </a:rPr>
              <a:t> carry </a:t>
            </a:r>
            <a:r>
              <a:rPr lang="de-AT" err="1">
                <a:cs typeface="Verdana" panose="020B0604030504040204" pitchFamily="34" charset="0"/>
                <a:sym typeface="Georgia"/>
              </a:rPr>
              <a:t>information</a:t>
            </a:r>
            <a:r>
              <a:rPr lang="de-AT">
                <a:cs typeface="Verdana" panose="020B0604030504040204" pitchFamily="34" charset="0"/>
                <a:sym typeface="Georgia"/>
              </a:rPr>
              <a:t>.</a:t>
            </a:r>
            <a:endParaRPr lang="de-AT">
              <a:sym typeface="Georgia"/>
            </a:endParaRPr>
          </a:p>
          <a:p>
            <a:pPr marL="0" lvl="0" indent="0" algn="l">
              <a:lnSpc>
                <a:spcPct val="100000"/>
              </a:lnSpc>
              <a:spcAft>
                <a:spcPts val="0"/>
              </a:spcAft>
              <a:buFont typeface="Arial,Sans-Serif"/>
              <a:buChar char="•"/>
            </a:pPr>
            <a:endParaRPr lang="de-AT"/>
          </a:p>
          <a:p>
            <a:pPr marL="266700" lvl="0" indent="-165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p6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202" name="Google Shape;202;p6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5</a:t>
            </a:fld>
            <a:endParaRPr/>
          </a:p>
        </p:txBody>
      </p:sp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de-AT" b="1"/>
              <a:t>Literature II: OPEC Narratives &amp; Text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7759644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de-AT" b="1" err="1"/>
              <a:t>Textual</a:t>
            </a:r>
            <a:r>
              <a:rPr lang="de-AT" b="1"/>
              <a:t> </a:t>
            </a:r>
            <a:r>
              <a:rPr lang="de-AT" b="1" err="1"/>
              <a:t>data</a:t>
            </a:r>
            <a:r>
              <a:rPr lang="de-AT" b="1"/>
              <a:t>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de-AT"/>
              <a:t>OPEC </a:t>
            </a:r>
            <a:r>
              <a:rPr lang="de-AT" b="1" err="1"/>
              <a:t>speeches</a:t>
            </a:r>
            <a:r>
              <a:rPr lang="de-AT"/>
              <a:t> (2003–2025)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/>
              <a:t>Scraped</a:t>
            </a:r>
            <a:r>
              <a:rPr lang="de-AT"/>
              <a:t> </a:t>
            </a:r>
            <a:r>
              <a:rPr lang="de-AT" err="1"/>
              <a:t>from</a:t>
            </a:r>
            <a:r>
              <a:rPr lang="de-AT"/>
              <a:t> </a:t>
            </a:r>
            <a:r>
              <a:rPr lang="de-AT" err="1"/>
              <a:t>yearly</a:t>
            </a:r>
            <a:r>
              <a:rPr lang="de-AT"/>
              <a:t> </a:t>
            </a:r>
            <a:r>
              <a:rPr lang="de-AT" err="1"/>
              <a:t>archive</a:t>
            </a:r>
            <a:r>
              <a:rPr lang="de-AT"/>
              <a:t> </a:t>
            </a:r>
            <a:r>
              <a:rPr lang="de-AT" err="1"/>
              <a:t>pages</a:t>
            </a:r>
            <a:r>
              <a:rPr lang="de-AT"/>
              <a:t> on opec.org.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/>
              <a:t>After </a:t>
            </a:r>
            <a:r>
              <a:rPr lang="de-AT" err="1"/>
              <a:t>cleaning</a:t>
            </a:r>
            <a:r>
              <a:rPr lang="de-AT"/>
              <a:t>: </a:t>
            </a:r>
            <a:r>
              <a:rPr lang="de-AT" err="1"/>
              <a:t>about</a:t>
            </a:r>
            <a:r>
              <a:rPr lang="de-AT"/>
              <a:t> </a:t>
            </a:r>
            <a:r>
              <a:rPr lang="de-AT" b="1"/>
              <a:t>383</a:t>
            </a:r>
            <a:r>
              <a:rPr lang="de-AT"/>
              <a:t> </a:t>
            </a:r>
            <a:r>
              <a:rPr lang="de-AT" err="1"/>
              <a:t>unique</a:t>
            </a:r>
            <a:r>
              <a:rPr lang="de-AT"/>
              <a:t> </a:t>
            </a:r>
            <a:r>
              <a:rPr lang="de-AT" err="1"/>
              <a:t>speeches</a:t>
            </a:r>
            <a:r>
              <a:rPr lang="de-AT"/>
              <a:t>.</a:t>
            </a:r>
            <a:endParaRPr/>
          </a:p>
          <a:p>
            <a:pPr marL="0" indent="0">
              <a:spcBef>
                <a:spcPts val="600"/>
              </a:spcBef>
              <a:buNone/>
            </a:pPr>
            <a:endParaRPr lang="de-AT"/>
          </a:p>
          <a:p>
            <a:pPr marL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de-AT"/>
              <a:t>OPEC </a:t>
            </a:r>
            <a:r>
              <a:rPr lang="de-AT" b="1"/>
              <a:t>press </a:t>
            </a:r>
            <a:r>
              <a:rPr lang="de-AT" b="1" err="1"/>
              <a:t>releases</a:t>
            </a:r>
            <a:r>
              <a:rPr lang="de-AT"/>
              <a:t> (2003–2025)</a:t>
            </a:r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/>
              <a:t>Scraped</a:t>
            </a:r>
            <a:r>
              <a:rPr lang="de-AT"/>
              <a:t> </a:t>
            </a:r>
            <a:r>
              <a:rPr lang="de-AT" err="1"/>
              <a:t>from</a:t>
            </a:r>
            <a:r>
              <a:rPr lang="de-AT"/>
              <a:t> press </a:t>
            </a:r>
            <a:r>
              <a:rPr lang="de-AT" err="1"/>
              <a:t>section</a:t>
            </a:r>
            <a:r>
              <a:rPr lang="de-AT"/>
              <a:t>.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/>
              <a:t>After </a:t>
            </a:r>
            <a:r>
              <a:rPr lang="de-AT" err="1"/>
              <a:t>cleaning</a:t>
            </a:r>
            <a:r>
              <a:rPr lang="de-AT"/>
              <a:t>: </a:t>
            </a:r>
            <a:r>
              <a:rPr lang="de-AT" err="1"/>
              <a:t>about</a:t>
            </a:r>
            <a:r>
              <a:rPr lang="de-AT"/>
              <a:t> </a:t>
            </a:r>
            <a:r>
              <a:rPr lang="de-AT" b="1"/>
              <a:t>572</a:t>
            </a:r>
            <a:r>
              <a:rPr lang="de-AT"/>
              <a:t> </a:t>
            </a:r>
            <a:r>
              <a:rPr lang="de-AT" err="1"/>
              <a:t>unique</a:t>
            </a:r>
            <a:r>
              <a:rPr lang="de-AT"/>
              <a:t> </a:t>
            </a:r>
            <a:r>
              <a:rPr lang="de-AT" err="1"/>
              <a:t>releases</a:t>
            </a:r>
            <a:r>
              <a:rPr lang="de-AT"/>
              <a:t>.</a:t>
            </a:r>
            <a:endParaRPr/>
          </a:p>
          <a:p>
            <a:pPr marL="539750" lvl="1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lang="de-AT"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09" name="Google Shape;209;p7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6</a:t>
            </a:fld>
            <a:endParaRPr/>
          </a:p>
        </p:txBody>
      </p:sp>
      <p:sp>
        <p:nvSpPr>
          <p:cNvPr id="211" name="Google Shape;211;p7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de-AT" err="1"/>
              <a:t>Textual</a:t>
            </a:r>
            <a:r>
              <a:rPr lang="de-AT"/>
              <a:t> Data &amp; Corpus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8405763" cy="394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indent="0">
              <a:buNone/>
            </a:pPr>
            <a:r>
              <a:rPr lang="en-GB" b="1"/>
              <a:t>Sources:</a:t>
            </a:r>
            <a:r>
              <a:rPr lang="en-GB"/>
              <a:t> U.S. Energy Information Administration, Yahoo Finance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0" indent="0">
              <a:buNone/>
            </a:pPr>
            <a:r>
              <a:rPr lang="en-GB" b="1"/>
              <a:t>Variables:</a:t>
            </a:r>
            <a:endParaRPr lang="en-GB"/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GB"/>
              <a:t>Spot prices: WTI Crude Oil, CBOE Volatility Index, US Dollar Index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GB"/>
              <a:t>Fundamentals: US field production, net imports, refinery utilization, total product supplied, inventories (crude oil, gasoline, distillate), strategic petroleum reserve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0" indent="0">
              <a:buNone/>
            </a:pPr>
            <a:r>
              <a:rPr lang="en-GB" b="1"/>
              <a:t>Transformations:</a:t>
            </a:r>
            <a:endParaRPr lang="en-GB"/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GB"/>
              <a:t>Weekly fundamental data is propagated forward to daily rows (LOCF)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GB"/>
              <a:t>Data is filtered to exclude weekends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GB"/>
              <a:t>WTI Crude Oil and DXY are transformed into Daily Log-Returns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GB"/>
              <a:t>VIX is used as a raw level proxy for market fear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GB"/>
              <a:t>Fundamental data is transformed into 5-day percent changes (one week)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1200150" lvl="1" indent="-285750"/>
            <a:endParaRPr lang="en-GB"/>
          </a:p>
          <a:p>
            <a:pPr marL="101600" indent="0">
              <a:buNone/>
            </a:pPr>
            <a:endParaRPr lang="en-GB"/>
          </a:p>
          <a:p>
            <a:pPr marL="101600" indent="0">
              <a:buNone/>
            </a:pPr>
            <a:endParaRPr lang="en-GB"/>
          </a:p>
          <a:p>
            <a:pPr marL="266700" indent="-165100">
              <a:buNone/>
            </a:pPr>
            <a:endParaRPr lang="en-GB"/>
          </a:p>
        </p:txBody>
      </p:sp>
      <p:sp>
        <p:nvSpPr>
          <p:cNvPr id="234" name="Google Shape;234;p10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235" name="Google Shape;235;p10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7</a:t>
            </a:fld>
            <a:endParaRPr/>
          </a:p>
        </p:txBody>
      </p:sp>
      <p:sp>
        <p:nvSpPr>
          <p:cNvPr id="236" name="Google Shape;236;p10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buSzPts val="2400"/>
            </a:pPr>
            <a:r>
              <a:rPr lang="de-AT" err="1"/>
              <a:t>Numerical</a:t>
            </a:r>
            <a:r>
              <a:rPr lang="de-AT"/>
              <a:t> Data &amp; Transformation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7759644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de-AT" b="1"/>
              <a:t>Sources:</a:t>
            </a:r>
            <a:r>
              <a:rPr lang="de-AT"/>
              <a:t> OPEC press </a:t>
            </a:r>
            <a:r>
              <a:rPr lang="de-AT" err="1"/>
              <a:t>releases</a:t>
            </a:r>
            <a:r>
              <a:rPr lang="de-AT"/>
              <a:t> + </a:t>
            </a:r>
            <a:r>
              <a:rPr lang="de-AT" err="1"/>
              <a:t>speeches</a:t>
            </a:r>
            <a:r>
              <a:rPr lang="de-AT"/>
              <a:t> </a:t>
            </a:r>
            <a:r>
              <a:rPr lang="de-AT" err="1"/>
              <a:t>from</a:t>
            </a:r>
            <a:r>
              <a:rPr lang="de-AT"/>
              <a:t> </a:t>
            </a:r>
            <a:r>
              <a:rPr lang="de-AT" err="1"/>
              <a:t>official</a:t>
            </a:r>
            <a:r>
              <a:rPr lang="de-AT"/>
              <a:t> </a:t>
            </a:r>
            <a:r>
              <a:rPr lang="de-AT" err="1"/>
              <a:t>website</a:t>
            </a:r>
            <a:r>
              <a:rPr lang="de-AT"/>
              <a:t> (2003–2025)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de-AT" b="1" err="1"/>
              <a:t>Scraping</a:t>
            </a:r>
            <a:r>
              <a:rPr lang="de-AT" b="1"/>
              <a:t>:</a:t>
            </a:r>
            <a:r>
              <a:rPr lang="de-AT"/>
              <a:t> </a:t>
            </a:r>
            <a:r>
              <a:rPr lang="de-AT" err="1"/>
              <a:t>For</a:t>
            </a:r>
            <a:r>
              <a:rPr lang="de-AT"/>
              <a:t> </a:t>
            </a:r>
            <a:r>
              <a:rPr lang="de-AT" err="1"/>
              <a:t>each</a:t>
            </a:r>
            <a:r>
              <a:rPr lang="de-AT"/>
              <a:t> </a:t>
            </a:r>
            <a:r>
              <a:rPr lang="de-AT" err="1"/>
              <a:t>year</a:t>
            </a:r>
            <a:r>
              <a:rPr lang="de-AT"/>
              <a:t>-page, </a:t>
            </a:r>
            <a:r>
              <a:rPr lang="de-AT" err="1"/>
              <a:t>collect</a:t>
            </a:r>
            <a:r>
              <a:rPr lang="de-AT"/>
              <a:t> links </a:t>
            </a:r>
            <a:r>
              <a:rPr lang="de-AT" err="1"/>
              <a:t>to</a:t>
            </a:r>
            <a:r>
              <a:rPr lang="de-AT"/>
              <a:t> individual </a:t>
            </a:r>
            <a:r>
              <a:rPr lang="de-AT" err="1"/>
              <a:t>documents</a:t>
            </a:r>
            <a:r>
              <a:rPr lang="de-AT"/>
              <a:t> and </a:t>
            </a:r>
            <a:r>
              <a:rPr lang="de-AT" err="1"/>
              <a:t>download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de-AT" b="1" err="1"/>
              <a:t>Extracted</a:t>
            </a:r>
            <a:r>
              <a:rPr lang="de-AT" b="1"/>
              <a:t> </a:t>
            </a:r>
            <a:r>
              <a:rPr lang="de-AT" b="1" err="1"/>
              <a:t>info</a:t>
            </a:r>
            <a:r>
              <a:rPr lang="de-AT" b="1"/>
              <a:t>: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/>
              <a:t>date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 err="1"/>
              <a:t>main</a:t>
            </a:r>
            <a:r>
              <a:rPr lang="de-AT"/>
              <a:t> </a:t>
            </a:r>
            <a:r>
              <a:rPr lang="de-AT" err="1"/>
              <a:t>text</a:t>
            </a:r>
            <a:r>
              <a:rPr lang="de-AT"/>
              <a:t> (</a:t>
            </a:r>
            <a:r>
              <a:rPr lang="de-AT" err="1"/>
              <a:t>paragraphs</a:t>
            </a:r>
            <a:r>
              <a:rPr lang="de-AT"/>
              <a:t> and tables)</a:t>
            </a:r>
            <a:endParaRPr/>
          </a:p>
          <a:p>
            <a:pPr marL="266700" lvl="0" indent="-266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de-AT"/>
              <a:t>URL</a:t>
            </a:r>
            <a:endParaRPr/>
          </a:p>
          <a:p>
            <a:pPr marL="266700" lvl="0" indent="-165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17" name="Google Shape;217;p8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218" name="Google Shape;218;p8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8</a:t>
            </a:fld>
            <a:endParaRPr/>
          </a:p>
        </p:txBody>
      </p:sp>
      <p:sp>
        <p:nvSpPr>
          <p:cNvPr id="219" name="Google Shape;219;p8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de-AT"/>
              <a:t>Text Collection (Scraping Pipeline)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227" name="Google Shape;227;p9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9</a:t>
            </a:fld>
            <a:endParaRPr/>
          </a:p>
        </p:txBody>
      </p:sp>
      <p:sp>
        <p:nvSpPr>
          <p:cNvPr id="228" name="Google Shape;228;p9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de-AT"/>
              <a:t>Text Descriptive and Wordclouds</a:t>
            </a:r>
            <a:endParaRPr/>
          </a:p>
        </p:txBody>
      </p:sp>
      <p:pic>
        <p:nvPicPr>
          <p:cNvPr id="4" name="Grafik 3" descr="Ein Bild, das Text, Schrift, Handschrift, Dokument enthält.&#10;&#10;KI-generierte Inhalte können fehlerhaft sein.">
            <a:extLst>
              <a:ext uri="{FF2B5EF4-FFF2-40B4-BE49-F238E27FC236}">
                <a16:creationId xmlns:a16="http://schemas.microsoft.com/office/drawing/2014/main" id="{47AC54F9-7FD5-F1DE-3BD8-71E8887BB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727" y="1426684"/>
            <a:ext cx="4519036" cy="3312970"/>
          </a:xfrm>
          <a:prstGeom prst="rect">
            <a:avLst/>
          </a:prstGeom>
        </p:spPr>
      </p:pic>
      <p:pic>
        <p:nvPicPr>
          <p:cNvPr id="5" name="Grafik 4" descr="Ein Bild, das Text, Screensho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F5FF6ECD-1FA6-6833-A782-332BC089E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" y="1427122"/>
            <a:ext cx="4532052" cy="332316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Google Shape;249;p1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62019" y="1344613"/>
                <a:ext cx="7759644" cy="38539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rmAutofit lnSpcReduction="10000"/>
              </a:bodyPr>
              <a:lstStyle/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b="1"/>
                  <a:t>Assumption:</a:t>
                </a:r>
                <a:r>
                  <a:rPr lang="en-US"/>
                  <a:t> Market is efficient and current prices already reflect all available public information. Therefore, the expected return is zero.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endParaRPr lang="en-US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b="1"/>
                  <a:t>Implication</a:t>
                </a:r>
                <a:r>
                  <a:rPr lang="en-US"/>
                  <a:t>: Oil price follows a random walk with no drift, a stochastic process where the conditional expectation of the next value, given all prior values, is equal to the present value.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b="1"/>
                  <a:t>Rule:</a:t>
                </a:r>
                <a:endParaRPr lang="en-US"/>
              </a:p>
              <a:p>
                <a:pPr marL="1200150" lvl="1" indent="-285750">
                  <a:buFont typeface="Arial" panose="020B0604020202020204" pitchFamily="34" charset="0"/>
                  <a:buChar char="•"/>
                </a:pPr>
                <a:r>
                  <a:rPr lang="en-US"/>
                  <a:t>Price assumption: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/>
              </a:p>
              <a:p>
                <a:pPr marL="1200150" lvl="1" indent="-285750">
                  <a:buFont typeface="Arial" panose="020B0604020202020204" pitchFamily="34" charset="0"/>
                  <a:buChar char="•"/>
                </a:pPr>
                <a:r>
                  <a:rPr lang="en-US"/>
                  <a:t>Return assumption: 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b="1"/>
                  <a:t>Performance:</a:t>
                </a:r>
                <a:r>
                  <a:rPr lang="en-US"/>
                  <a:t> MAE ≈ 0.016–0.017 (about the size of daily volatility)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endParaRPr lang="en-US"/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b="1"/>
                  <a:t>Takeaway:</a:t>
                </a:r>
                <a:r>
                  <a:rPr lang="en-US"/>
                  <a:t> Any “smart” model (LASSO) must beat this error, especially out-of-sample</a:t>
                </a:r>
                <a:endParaRPr lang="en-GB"/>
              </a:p>
              <a:p>
                <a:pPr marL="266700" lvl="0" indent="-16510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600"/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249" name="Google Shape;249;p1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2019" y="1344613"/>
                <a:ext cx="7759644" cy="3853905"/>
              </a:xfrm>
              <a:prstGeom prst="rect">
                <a:avLst/>
              </a:prstGeom>
              <a:blipFill>
                <a:blip r:embed="rId3"/>
                <a:stretch>
                  <a:fillRect l="-1493" t="-1108" r="-22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0" name="Google Shape;250;p12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251" name="Google Shape;251;p12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10</a:t>
            </a:fld>
            <a:endParaRPr/>
          </a:p>
        </p:txBody>
      </p:sp>
      <p:sp>
        <p:nvSpPr>
          <p:cNvPr id="252" name="Google Shape;252;p12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r>
              <a:rPr lang="en-US"/>
              <a:t>Naïve model</a:t>
            </a:r>
            <a:endParaRPr lang="de-AT" b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F48B66-CBD3-8087-7CD6-7C37CBF5D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B0772C-C529-0534-1C4C-AA1C64DA3D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11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2352B2-1653-217E-D831-8F6BDC1A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model</a:t>
            </a:r>
          </a:p>
        </p:txBody>
      </p:sp>
      <p:pic>
        <p:nvPicPr>
          <p:cNvPr id="10" name="Picture 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5AE01026-E4C6-8888-BC05-85BD0C001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72" y="1306513"/>
            <a:ext cx="4264128" cy="3479370"/>
          </a:xfrm>
          <a:prstGeom prst="rect">
            <a:avLst/>
          </a:prstGeom>
        </p:spPr>
      </p:pic>
      <p:pic>
        <p:nvPicPr>
          <p:cNvPr id="12" name="Picture 11" descr="A graph of a graph showing a variety of blue and green lines&#10;&#10;Description automatically generated with medium confidence">
            <a:extLst>
              <a:ext uri="{FF2B5EF4-FFF2-40B4-BE49-F238E27FC236}">
                <a16:creationId xmlns:a16="http://schemas.microsoft.com/office/drawing/2014/main" id="{9209F45E-B178-2958-9E3A-5D13E0806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147" y="1306513"/>
            <a:ext cx="4314162" cy="349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4858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333155CD-BAF2-2E06-C6D7-C88AB7DB97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62407" y="1334364"/>
                <a:ext cx="7759644" cy="3853905"/>
              </a:xfrm>
            </p:spPr>
            <p:txBody>
              <a:bodyPr>
                <a:noAutofit/>
              </a:bodyPr>
              <a:lstStyle/>
              <a:p>
                <a:pPr marL="127000" indent="0">
                  <a:buNone/>
                </a:pPr>
                <a:r>
                  <a:rPr lang="de-DE" sz="1400" b="1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</a:t>
                </a:r>
                <a:r>
                  <a:rPr lang="de-DE" sz="1400" b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b="1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we</a:t>
                </a:r>
                <a:r>
                  <a:rPr lang="de-DE" sz="1400" b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Feature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selection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 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drives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many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40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0 →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picks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small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set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words</a:t>
                </a:r>
                <a:endParaRPr lang="de-AT" sz="1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Handles high-dimensional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text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 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works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de-AT" sz="1400" b="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AT" sz="1400" b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de-AT" sz="1400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e-AT" sz="1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Interpretability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 non-zero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coefficients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terms</a:t>
                </a:r>
                <a:r>
                  <a:rPr lang="de-AT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matter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de-DE" sz="1400" b="1"/>
              </a:p>
              <a:p>
                <a:pPr>
                  <a:buFont typeface="Arial" panose="020B0604020202020204" pitchFamily="34" charset="0"/>
                  <a:buChar char="•"/>
                </a:pPr>
                <a:endParaRPr lang="de-DE" sz="1400" b="1"/>
              </a:p>
              <a:p>
                <a:pPr marL="127000" indent="0">
                  <a:buNone/>
                </a:pPr>
                <a:r>
                  <a:rPr lang="de-DE" sz="1400" b="1"/>
                  <a:t>Model </a:t>
                </a:r>
                <a:r>
                  <a:rPr lang="de-DE" sz="1400" b="1" err="1"/>
                  <a:t>Objective</a:t>
                </a:r>
                <a:endParaRPr lang="de-DE" sz="1400" b="1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sz="13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AT" sz="13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de-AT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AT" sz="13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AT" sz="13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de-AT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AT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AT" sz="13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de-AT" sz="13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de-AT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de-AT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AT" sz="1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e-AT" sz="13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e-AT" sz="13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de-AT" sz="13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AT" sz="13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de-AT" sz="13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de-AT" sz="1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de-AT" sz="13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de-AT" sz="13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de-AT" sz="13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de-AT" sz="1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e-AT" sz="13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nary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de-DE" sz="1300"/>
              </a:p>
              <a:p>
                <a:pPr>
                  <a:buFont typeface="Arial" panose="020B0604020202020204" pitchFamily="34" charset="0"/>
                  <a:buChar char="•"/>
                </a:pPr>
                <a:endParaRPr lang="de-DE" sz="1300" b="1"/>
              </a:p>
              <a:p>
                <a:pPr marL="127000" indent="0">
                  <a:buNone/>
                </a:pPr>
                <a:r>
                  <a:rPr lang="de-DE" sz="1400" b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Key </a:t>
                </a:r>
                <a:r>
                  <a:rPr lang="de-DE" sz="1400" b="1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Explanations</a:t>
                </a:r>
                <a:endParaRPr lang="de-DE" sz="14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AT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AT" sz="1400" i="0" smtClean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y</m:t>
                        </m:r>
                      </m:e>
                      <m:sub>
                        <m:r>
                          <m:rPr>
                            <m:nor/>
                          </m:rPr>
                          <a:rPr lang="de-AT" sz="1400" i="0" smtClean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Daily WTI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crude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oil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return</a:t>
                </a:r>
                <a:endParaRPr lang="de-DE" sz="1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de-AT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de-AT" sz="1400" i="0" smtClean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x</m:t>
                        </m:r>
                      </m:e>
                      <m:sub>
                        <m:r>
                          <m:rPr>
                            <m:nor/>
                          </m:rPr>
                          <a:rPr lang="de-AT" sz="1400" i="0" smtClean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t</m:t>
                        </m:r>
                      </m:sub>
                      <m:sup>
                        <m:r>
                          <m:rPr>
                            <m:nor/>
                          </m:rPr>
                          <a:rPr lang="de-AT" sz="1400" i="0" smtClean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⊤</m:t>
                        </m:r>
                      </m:sup>
                    </m:sSubSup>
                    <m:r>
                      <m:rPr>
                        <m:nor/>
                      </m:rPr>
                      <a:rPr lang="de-AT" sz="1400" i="0" smtClean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β</m:t>
                    </m:r>
                  </m:oMath>
                </a14:m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Combined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signal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OPEC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textual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features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market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fundamentals</a:t>
                </a:r>
                <a:endParaRPr lang="de-DE" sz="1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AT" sz="1400" i="0" smtClean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λ</m:t>
                    </m:r>
                  </m:oMath>
                </a14:m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The "Key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Knob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"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controlling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shrinkage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; larger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AT" sz="140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λ</m:t>
                    </m:r>
                    <m:r>
                      <m:rPr>
                        <m:nor/>
                      </m:rPr>
                      <a:rPr lang="de-AT" sz="1400" b="0" i="0" smtClean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results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fewer</a:t>
                </a:r>
                <a:r>
                  <a:rPr lang="de-DE" sz="1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non-zero </a:t>
                </a:r>
                <a:r>
                  <a:rPr lang="de-DE" sz="140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coefficients</a:t>
                </a:r>
                <a:endParaRPr lang="de-DE" sz="1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333155CD-BAF2-2E06-C6D7-C88AB7DB9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2407" y="1334364"/>
                <a:ext cx="7759644" cy="3853905"/>
              </a:xfrm>
              <a:blipFill>
                <a:blip r:embed="rId2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FC6B6CD-4F82-D826-26B5-2A1F8887D4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12</a:t>
            </a:fld>
            <a:endParaRPr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9CEA198-9C62-6877-B3E0-4610DFFB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LASSO – Model Explanation</a:t>
            </a:r>
          </a:p>
        </p:txBody>
      </p:sp>
    </p:spTree>
    <p:extLst>
      <p:ext uri="{BB962C8B-B14F-4D97-AF65-F5344CB8AC3E}">
        <p14:creationId xmlns:p14="http://schemas.microsoft.com/office/powerpoint/2010/main" val="228177398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13392E-DEAD-A797-BBE9-60E325611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C2C5E-1DDF-7F38-BC22-A8A42B22FA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13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508BDB-7EE4-6AB5-FCCB-8BACBAD6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Lasso (text only)</a:t>
            </a:r>
          </a:p>
        </p:txBody>
      </p:sp>
      <p:pic>
        <p:nvPicPr>
          <p:cNvPr id="14" name="Picture 13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E95112B8-9243-7D7B-E32E-5C5D9A9B6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4" y="1257063"/>
            <a:ext cx="4459564" cy="3552786"/>
          </a:xfrm>
          <a:prstGeom prst="rect">
            <a:avLst/>
          </a:prstGeom>
        </p:spPr>
      </p:pic>
      <p:pic>
        <p:nvPicPr>
          <p:cNvPr id="16" name="Picture 15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750002AC-8625-6B6A-0760-2415D5DAD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170" y="1257063"/>
            <a:ext cx="4402740" cy="354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2072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2600FD-5B12-80E1-954B-3B40AAC35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A4FC7-FF4A-8EAF-B010-E2C42A79E6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14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F5383C-0EB1-91C6-BC9B-6D4F8711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Lasso hybrid</a:t>
            </a:r>
          </a:p>
        </p:txBody>
      </p:sp>
      <p:pic>
        <p:nvPicPr>
          <p:cNvPr id="14" name="Picture 13" descr="A graph of a graph showing a price tracker&#10;&#10;Description automatically generated with medium confidence">
            <a:extLst>
              <a:ext uri="{FF2B5EF4-FFF2-40B4-BE49-F238E27FC236}">
                <a16:creationId xmlns:a16="http://schemas.microsoft.com/office/drawing/2014/main" id="{8622D0ED-F1EA-D874-C913-679D2ABA1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2" y="1239033"/>
            <a:ext cx="4437871" cy="3582884"/>
          </a:xfrm>
          <a:prstGeom prst="rect">
            <a:avLst/>
          </a:prstGeom>
        </p:spPr>
      </p:pic>
      <p:pic>
        <p:nvPicPr>
          <p:cNvPr id="16" name="Picture 15" descr="A graph of a graph showing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C92E347-B1F9-8B6F-7714-1E8774CA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179" y="1241885"/>
            <a:ext cx="4431090" cy="357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4510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F55AC2B2-A861-A0C4-6FC8-824BCD2FAD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62019" y="1273882"/>
                <a:ext cx="7759644" cy="3853905"/>
              </a:xfrm>
            </p:spPr>
            <p:txBody>
              <a:bodyPr>
                <a:normAutofit lnSpcReduction="10000"/>
              </a:bodyPr>
              <a:lstStyle/>
              <a:p>
                <a:pPr marL="127000" indent="0">
                  <a:lnSpc>
                    <a:spcPct val="120000"/>
                  </a:lnSpc>
                  <a:buNone/>
                </a:pPr>
                <a:r>
                  <a:rPr lang="de-AT" b="1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</a:t>
                </a:r>
                <a:r>
                  <a:rPr lang="de-AT" b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b="1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we</a:t>
                </a:r>
                <a:r>
                  <a:rPr lang="de-AT" b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do</a:t>
                </a:r>
                <a:endParaRPr lang="de-AT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de-AT"/>
                  <a:t>LASSO + Ridge: </a:t>
                </a:r>
                <a:r>
                  <a:rPr lang="de-AT" err="1"/>
                  <a:t>combines</a:t>
                </a:r>
                <a:r>
                  <a:rPr lang="de-AT"/>
                  <a:t> </a:t>
                </a:r>
                <a:r>
                  <a:rPr lang="de-AT" err="1"/>
                  <a:t>selection</a:t>
                </a:r>
                <a:r>
                  <a:rPr lang="de-AT"/>
                  <a:t> (L1) and </a:t>
                </a:r>
                <a:r>
                  <a:rPr lang="de-AT" err="1"/>
                  <a:t>stability</a:t>
                </a:r>
                <a:r>
                  <a:rPr lang="de-AT"/>
                  <a:t> (L2)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de-AT" err="1"/>
                  <a:t>Collinearity-friendly</a:t>
                </a:r>
                <a:r>
                  <a:rPr lang="de-AT"/>
                  <a:t>: </a:t>
                </a:r>
                <a:r>
                  <a:rPr lang="de-AT" err="1"/>
                  <a:t>keeps</a:t>
                </a:r>
                <a:r>
                  <a:rPr lang="de-AT"/>
                  <a:t> </a:t>
                </a:r>
                <a:r>
                  <a:rPr lang="de-AT" err="1"/>
                  <a:t>groups</a:t>
                </a:r>
                <a:r>
                  <a:rPr lang="de-AT"/>
                  <a:t> </a:t>
                </a:r>
                <a:r>
                  <a:rPr lang="de-AT" err="1"/>
                  <a:t>of</a:t>
                </a:r>
                <a:r>
                  <a:rPr lang="de-AT"/>
                  <a:t> </a:t>
                </a:r>
                <a:r>
                  <a:rPr lang="de-AT" err="1"/>
                  <a:t>correlated</a:t>
                </a:r>
                <a:r>
                  <a:rPr lang="de-AT"/>
                  <a:t> </a:t>
                </a:r>
                <a:r>
                  <a:rPr lang="de-AT" err="1"/>
                  <a:t>words</a:t>
                </a:r>
                <a:r>
                  <a:rPr lang="de-AT"/>
                  <a:t> </a:t>
                </a:r>
                <a:r>
                  <a:rPr lang="de-AT" err="1"/>
                  <a:t>together</a:t>
                </a:r>
                <a:endParaRPr lang="de-AT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de-AT" err="1"/>
                  <a:t>Often</a:t>
                </a:r>
                <a:r>
                  <a:rPr lang="de-AT"/>
                  <a:t> </a:t>
                </a:r>
                <a:r>
                  <a:rPr lang="de-AT" err="1"/>
                  <a:t>more</a:t>
                </a:r>
                <a:r>
                  <a:rPr lang="de-AT"/>
                  <a:t> </a:t>
                </a:r>
                <a:r>
                  <a:rPr lang="de-AT" err="1"/>
                  <a:t>stable</a:t>
                </a:r>
                <a:r>
                  <a:rPr lang="de-AT"/>
                  <a:t> </a:t>
                </a:r>
                <a:r>
                  <a:rPr lang="de-AT" err="1"/>
                  <a:t>than</a:t>
                </a:r>
                <a:r>
                  <a:rPr lang="de-AT"/>
                  <a:t> pure LASSO </a:t>
                </a:r>
                <a:r>
                  <a:rPr lang="de-AT" err="1"/>
                  <a:t>with</a:t>
                </a:r>
                <a:r>
                  <a:rPr lang="de-AT"/>
                  <a:t> </a:t>
                </a:r>
                <a:r>
                  <a:rPr lang="de-AT" err="1"/>
                  <a:t>text</a:t>
                </a:r>
                <a:r>
                  <a:rPr lang="de-AT"/>
                  <a:t> </a:t>
                </a:r>
                <a:r>
                  <a:rPr lang="de-AT" err="1"/>
                  <a:t>features</a:t>
                </a:r>
                <a:endParaRPr lang="de-AT"/>
              </a:p>
              <a:p>
                <a:pPr>
                  <a:buFont typeface="Wingdings" pitchFamily="2" charset="2"/>
                  <a:buChar char="§"/>
                </a:pPr>
                <a:endParaRPr lang="de-AT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0" indent="0">
                  <a:buNone/>
                </a:pPr>
                <a:r>
                  <a:rPr lang="de-AT" b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Model </a:t>
                </a:r>
                <a:r>
                  <a:rPr lang="de-AT" b="1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Objective</a:t>
                </a:r>
                <a:endParaRPr lang="de-AT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AT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de-AT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A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AT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de-AT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AT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de-AT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de-A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de-A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AT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de-AT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de-AT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AT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de-AT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de-A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e-A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e-A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𝛽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e-A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nary>
                                          <m:r>
                                            <a:rPr lang="de-AT" b="0" i="1" smtClean="0">
                                              <a:latin typeface="Cambria Math" panose="02040503050406030204" pitchFamily="18" charset="0"/>
                                            </a:rPr>
                                            <m:t>+(1−</m:t>
                                          </m:r>
                                          <m:r>
                                            <a:rPr lang="de-AT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de-AT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  <m:f>
                                            <m:fPr>
                                              <m:ctrlPr>
                                                <a:rPr lang="de-A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de-A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de-A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de-A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sty m:val="p"/>
                                                  <m:brk m:alnAt="23"/>
                                                </m:rPr>
                                                <a:rPr lang="de-A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j</m:t>
                                              </m:r>
                                              <m:r>
                                                <a:rPr lang="de-A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de-A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p</m:t>
                                              </m:r>
                                            </m:sup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de-A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de-A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de-A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j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de-A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de-AT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0" indent="0">
                  <a:buNone/>
                </a:pPr>
                <a:endParaRPr lang="de-AT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7000" indent="0">
                  <a:lnSpc>
                    <a:spcPct val="120000"/>
                  </a:lnSpc>
                  <a:buNone/>
                </a:pPr>
                <a:r>
                  <a:rPr lang="de-AT" b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Key </a:t>
                </a:r>
                <a:r>
                  <a:rPr lang="de-AT" b="1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Explanations</a:t>
                </a:r>
                <a:endParaRPr lang="de-AT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A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The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mixing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parameter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de-A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LASSO,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while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Ridge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Cross-Validation: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We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tuned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values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(0.1, 0.5, 0.9) using CV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respect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time-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series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structure</a:t>
                </a:r>
                <a:endParaRPr lang="de-AT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A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Controls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overall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strength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</a:t>
                </a:r>
                <a:r>
                  <a:rPr lang="de-AT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de-AT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regularization</a:t>
                </a:r>
                <a:endParaRPr lang="de-AT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F55AC2B2-A861-A0C4-6FC8-824BCD2FAD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2019" y="1273882"/>
                <a:ext cx="7759644" cy="3853905"/>
              </a:xfrm>
              <a:blipFill>
                <a:blip r:embed="rId2"/>
                <a:stretch>
                  <a:fillRect t="-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9142A9-DC6C-6200-2D36-CECAC27B2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15</a:t>
            </a:fld>
            <a:endParaRPr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2005E5B-5A78-5C8B-0675-CA0E9124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Elastic</a:t>
            </a:r>
            <a:r>
              <a:rPr lang="de-DE"/>
              <a:t> Net – Model Explanation</a:t>
            </a:r>
          </a:p>
        </p:txBody>
      </p:sp>
    </p:spTree>
    <p:extLst>
      <p:ext uri="{BB962C8B-B14F-4D97-AF65-F5344CB8AC3E}">
        <p14:creationId xmlns:p14="http://schemas.microsoft.com/office/powerpoint/2010/main" val="11123431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1E454E-CFFC-874D-358A-F2FC222D2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87B8B-AEC6-8703-4DDC-C680A4629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16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D79311-628D-6E37-6EED-C3AE44B3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 Net (text only)</a:t>
            </a:r>
          </a:p>
        </p:txBody>
      </p:sp>
      <p:pic>
        <p:nvPicPr>
          <p:cNvPr id="10" name="Picture 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0995880-28C9-3568-84D3-D2EAE4E6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7" y="1183642"/>
            <a:ext cx="4348702" cy="3555282"/>
          </a:xfrm>
          <a:prstGeom prst="rect">
            <a:avLst/>
          </a:prstGeom>
        </p:spPr>
      </p:pic>
      <p:pic>
        <p:nvPicPr>
          <p:cNvPr id="12" name="Picture 11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F8FF75B9-CD32-F7BD-4943-AEE4AF4D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129" y="1183642"/>
            <a:ext cx="4310974" cy="352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5403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DAE8F2-D2BE-C825-B00E-D9BFA8C89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D8244-F9E0-0CD6-75E7-1F4925DAB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17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C3828E-A672-3422-7723-589BF967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Elastic Net (hybrid)</a:t>
            </a:r>
          </a:p>
        </p:txBody>
      </p:sp>
      <p:pic>
        <p:nvPicPr>
          <p:cNvPr id="10" name="Picture 9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BC79929-89E8-B66F-D294-61D0B74A0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2" y="1197697"/>
            <a:ext cx="4254352" cy="3446919"/>
          </a:xfrm>
          <a:prstGeom prst="rect">
            <a:avLst/>
          </a:prstGeom>
        </p:spPr>
      </p:pic>
      <p:pic>
        <p:nvPicPr>
          <p:cNvPr id="12" name="Picture 11" descr="A graph of a graph showing a number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C22E8FFA-051C-D964-010D-2C90C898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991" y="1197697"/>
            <a:ext cx="4339237" cy="349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9909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79FD1FA-B2A6-0983-F216-04121BC3E5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62018" y="1344613"/>
                <a:ext cx="8243069" cy="3853905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We use bootstrap aggregating to construct B uncorrelated decision trees – at each split, only a random subset of features is considered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The final forecast is the average of all individual tree predictions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Reduces variance and is robust against overfitting, especially with high-dimensional text data (sparse DTM)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Hyperparameter tuning performed via internal time-series cross-validation (no future data leakage)</a:t>
                </a:r>
              </a:p>
              <a:p>
                <a:endParaRPr lang="en-US"/>
              </a:p>
              <a:p>
                <a:pPr marL="127000" indent="0">
                  <a:buNone/>
                </a:pPr>
                <a:r>
                  <a:rPr lang="en-US"/>
                  <a:t>For a given input vector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(numerical + textual data), the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/>
                  <a:t> is:</a:t>
                </a: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AT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AT" b="0"/>
              </a:p>
              <a:p>
                <a:pPr marL="127000" indent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the prediction of the b-</a:t>
                </a:r>
                <a:r>
                  <a:rPr lang="en-US" err="1"/>
                  <a:t>th</a:t>
                </a:r>
                <a:r>
                  <a:rPr lang="en-US"/>
                  <a:t> tree and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is the number of trees</a:t>
                </a:r>
              </a:p>
              <a:p>
                <a:pPr marL="127000" indent="0">
                  <a:buNone/>
                </a:pPr>
                <a:endParaRPr lang="en-US"/>
              </a:p>
              <a:p>
                <a:pPr marL="12700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79FD1FA-B2A6-0983-F216-04121BC3E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2018" y="1344613"/>
                <a:ext cx="8243069" cy="3853905"/>
              </a:xfrm>
              <a:blipFill>
                <a:blip r:embed="rId2"/>
                <a:stretch>
                  <a:fillRect t="-475" r="-6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3EF1E9-1C9E-8F60-CF68-DCF461453D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18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5DE336-464C-4C2C-A1B5-93DEF670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24568609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9FAAC-F19A-842C-B00B-E9E1F2E37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19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94D31D-AC09-592A-DBDD-C7DE47DD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Forest</a:t>
            </a:r>
          </a:p>
        </p:txBody>
      </p:sp>
      <p:pic>
        <p:nvPicPr>
          <p:cNvPr id="10" name="Picture 9" descr="A screenshot of a graph&#10;&#10;Description automatically generated">
            <a:extLst>
              <a:ext uri="{FF2B5EF4-FFF2-40B4-BE49-F238E27FC236}">
                <a16:creationId xmlns:a16="http://schemas.microsoft.com/office/drawing/2014/main" id="{32F912D0-0BF0-65EA-EF60-11A01D9E1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46" y="1339002"/>
            <a:ext cx="4095496" cy="3317352"/>
          </a:xfrm>
          <a:prstGeom prst="rect">
            <a:avLst/>
          </a:prstGeom>
        </p:spPr>
      </p:pic>
      <p:pic>
        <p:nvPicPr>
          <p:cNvPr id="12" name="Picture 11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C5302C4-44F0-0C64-FFDB-D8D2B711C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67" y="1339002"/>
            <a:ext cx="4095497" cy="3317352"/>
          </a:xfrm>
          <a:prstGeom prst="rect">
            <a:avLst/>
          </a:prstGeom>
        </p:spPr>
      </p:pic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DC742231-113E-8098-8FAF-B805BBE76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4685844"/>
            <a:ext cx="8243069" cy="542164"/>
          </a:xfrm>
        </p:spPr>
        <p:txBody>
          <a:bodyPr>
            <a:normAutofit/>
          </a:bodyPr>
          <a:lstStyle/>
          <a:p>
            <a:pPr marL="127000" indent="0">
              <a:buNone/>
            </a:pPr>
            <a:r>
              <a:rPr lang="en-US" sz="1200"/>
              <a:t>Time-series cross-validation selected a highly regularized configuration (Depth=12, </a:t>
            </a:r>
            <a:r>
              <a:rPr lang="en-US" sz="1200" err="1"/>
              <a:t>MinNode</a:t>
            </a:r>
            <a:r>
              <a:rPr lang="en-US" sz="1200"/>
              <a:t>=20) with a large ensemble of 2,000 trees and a 500-word vocabulary to stabilize predictions against noisy text data.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2882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A05C8EB-C1FD-A582-0322-3C0B12A7954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Unlike random forest, XGBoost builds trees </a:t>
                </a:r>
                <a:r>
                  <a:rPr lang="en-US" err="1"/>
                  <a:t>sequientially</a:t>
                </a:r>
                <a:r>
                  <a:rPr lang="en-US"/>
                  <a:t> – each new tree corrects the residual errors of the previous ensemble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Minimizes a regularized objective function using gradient descent in function space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Includes L1/L2 regularization terms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/>
                  <a:t>) to control model complexity and prevent overfitting on noise</a:t>
                </a:r>
              </a:p>
              <a:p>
                <a:endParaRPr lang="en-US"/>
              </a:p>
              <a:p>
                <a:pPr marL="127000" indent="0">
                  <a:buNone/>
                </a:pPr>
                <a:r>
                  <a:rPr lang="en-US"/>
                  <a:t>The prediction at step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is the sum of the previous prediction plus the new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/>
                  <a:t>, scaled by the learning rate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/>
                  <a:t>:</a:t>
                </a:r>
              </a:p>
              <a:p>
                <a:pPr marL="127000" indent="0">
                  <a:buNone/>
                </a:pPr>
                <a:endParaRPr lang="en-US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𝑂𝑏𝑗𝑒𝑐𝑡𝑖𝑣𝑒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de-A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A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̂"/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A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de-AT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e-AT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de-AT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A05C8EB-C1FD-A582-0322-3C0B12A79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475" r="-20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7E8705-63D3-2E95-156D-C9D49350E9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20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451650-D4B0-DC26-899E-4878A32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XGBoost (Gradient Boosting)</a:t>
            </a:r>
          </a:p>
        </p:txBody>
      </p:sp>
    </p:spTree>
    <p:extLst>
      <p:ext uri="{BB962C8B-B14F-4D97-AF65-F5344CB8AC3E}">
        <p14:creationId xmlns:p14="http://schemas.microsoft.com/office/powerpoint/2010/main" val="355328092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7BF023-0975-F304-4BE1-7385403A28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21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8A9AAF-33BA-21BB-633F-4626D220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XGBoost</a:t>
            </a:r>
          </a:p>
        </p:txBody>
      </p:sp>
      <p:pic>
        <p:nvPicPr>
          <p:cNvPr id="10" name="Picture 9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46E4B47D-20C7-414D-4328-E01654FF3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4" y="1320560"/>
            <a:ext cx="4097867" cy="3319272"/>
          </a:xfrm>
          <a:prstGeom prst="rect">
            <a:avLst/>
          </a:prstGeom>
        </p:spPr>
      </p:pic>
      <p:pic>
        <p:nvPicPr>
          <p:cNvPr id="12" name="Picture 11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01D346A-F6E7-30A9-FEBE-08647175B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799" y="1320560"/>
            <a:ext cx="4097867" cy="3319272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331B8AC7-B1AB-38A0-8EA8-73889EDF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4685844"/>
            <a:ext cx="8243069" cy="542164"/>
          </a:xfrm>
        </p:spPr>
        <p:txBody>
          <a:bodyPr>
            <a:normAutofit fontScale="92500"/>
          </a:bodyPr>
          <a:lstStyle/>
          <a:p>
            <a:pPr marL="127000" indent="0">
              <a:buNone/>
            </a:pPr>
            <a:r>
              <a:rPr lang="en-US" sz="1200"/>
              <a:t>The model was tuned for maximum robustness, selecting a very conservative learning rate (</a:t>
            </a:r>
            <a:r>
              <a:rPr lang="el-GR" sz="1200"/>
              <a:t>η=0.01), </a:t>
            </a:r>
            <a:r>
              <a:rPr lang="en-US" sz="1200"/>
              <a:t>shallow trees (Depth=3), and a strict 200-word vocabulary to prevent overfitting on the sparse textual features.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255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92AF56-A86A-45FA-633F-42B2C31055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 smtClean="0"/>
              <a:t>22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A194B6-1CA7-D4FB-D43B-410EDB5C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9AFB55-EE9D-BA98-7CAA-2A33B1CA5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26029"/>
              </p:ext>
            </p:extLst>
          </p:nvPr>
        </p:nvGraphicFramePr>
        <p:xfrm>
          <a:off x="462406" y="1392429"/>
          <a:ext cx="5398896" cy="369163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899816">
                  <a:extLst>
                    <a:ext uri="{9D8B030D-6E8A-4147-A177-3AD203B41FA5}">
                      <a16:colId xmlns:a16="http://schemas.microsoft.com/office/drawing/2014/main" val="2643511721"/>
                    </a:ext>
                  </a:extLst>
                </a:gridCol>
                <a:gridCol w="899816">
                  <a:extLst>
                    <a:ext uri="{9D8B030D-6E8A-4147-A177-3AD203B41FA5}">
                      <a16:colId xmlns:a16="http://schemas.microsoft.com/office/drawing/2014/main" val="878823055"/>
                    </a:ext>
                  </a:extLst>
                </a:gridCol>
                <a:gridCol w="899816">
                  <a:extLst>
                    <a:ext uri="{9D8B030D-6E8A-4147-A177-3AD203B41FA5}">
                      <a16:colId xmlns:a16="http://schemas.microsoft.com/office/drawing/2014/main" val="1843096894"/>
                    </a:ext>
                  </a:extLst>
                </a:gridCol>
                <a:gridCol w="899816">
                  <a:extLst>
                    <a:ext uri="{9D8B030D-6E8A-4147-A177-3AD203B41FA5}">
                      <a16:colId xmlns:a16="http://schemas.microsoft.com/office/drawing/2014/main" val="2038010638"/>
                    </a:ext>
                  </a:extLst>
                </a:gridCol>
                <a:gridCol w="899816">
                  <a:extLst>
                    <a:ext uri="{9D8B030D-6E8A-4147-A177-3AD203B41FA5}">
                      <a16:colId xmlns:a16="http://schemas.microsoft.com/office/drawing/2014/main" val="1931344118"/>
                    </a:ext>
                  </a:extLst>
                </a:gridCol>
                <a:gridCol w="899816">
                  <a:extLst>
                    <a:ext uri="{9D8B030D-6E8A-4147-A177-3AD203B41FA5}">
                      <a16:colId xmlns:a16="http://schemas.microsoft.com/office/drawing/2014/main" val="4156313388"/>
                    </a:ext>
                  </a:extLst>
                </a:gridCol>
              </a:tblGrid>
              <a:tr h="955702">
                <a:tc>
                  <a:txBody>
                    <a:bodyPr/>
                    <a:lstStyle/>
                    <a:p>
                      <a:r>
                        <a:rPr lang="en-US" sz="1200"/>
                        <a:t>Mean Absolute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Naïve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LASSO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Elastic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XGBoost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485181"/>
                  </a:ext>
                </a:extLst>
              </a:tr>
              <a:tr h="683983">
                <a:tc>
                  <a:txBody>
                    <a:bodyPr/>
                    <a:lstStyle/>
                    <a:p>
                      <a:r>
                        <a:rPr lang="en-US" sz="1200"/>
                        <a:t>Text Only</a:t>
                      </a:r>
                    </a:p>
                    <a:p>
                      <a:r>
                        <a:rPr lang="en-US" sz="1100" b="0"/>
                        <a:t>(in-sample)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0.01654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054433"/>
                  </a:ext>
                </a:extLst>
              </a:tr>
              <a:tr h="683983">
                <a:tc>
                  <a:txBody>
                    <a:bodyPr/>
                    <a:lstStyle/>
                    <a:p>
                      <a:r>
                        <a:rPr lang="en-US" sz="1200"/>
                        <a:t>Hybrid</a:t>
                      </a:r>
                    </a:p>
                    <a:p>
                      <a:r>
                        <a:rPr lang="en-US" sz="1100" b="0"/>
                        <a:t>(in-sample)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/>
                        <a:t>0.01696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0.01527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0.1542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0.01489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0.01499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637192"/>
                  </a:ext>
                </a:extLst>
              </a:tr>
              <a:tr h="683983">
                <a:tc>
                  <a:txBody>
                    <a:bodyPr/>
                    <a:lstStyle/>
                    <a:p>
                      <a:r>
                        <a:rPr lang="en-US" sz="1200" b="1"/>
                        <a:t>Text Only</a:t>
                      </a:r>
                    </a:p>
                    <a:p>
                      <a:r>
                        <a:rPr lang="en-US" sz="1100" b="0"/>
                        <a:t>(out-of-sample)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0.01646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0.01649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477369"/>
                  </a:ext>
                </a:extLst>
              </a:tr>
              <a:tr h="683983">
                <a:tc>
                  <a:txBody>
                    <a:bodyPr/>
                    <a:lstStyle/>
                    <a:p>
                      <a:r>
                        <a:rPr lang="en-US" sz="1200"/>
                        <a:t>Hybrid</a:t>
                      </a:r>
                    </a:p>
                    <a:p>
                      <a:r>
                        <a:rPr lang="en-US" sz="1100" b="0"/>
                        <a:t>(out-of-sample)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/>
                        <a:t>0.01648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0.01537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0.01538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0.01546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707648"/>
                  </a:ext>
                </a:extLst>
              </a:tr>
            </a:tbl>
          </a:graphicData>
        </a:graphic>
      </p:graphicFrame>
      <p:sp>
        <p:nvSpPr>
          <p:cNvPr id="6" name="Google Shape;265;p14">
            <a:extLst>
              <a:ext uri="{FF2B5EF4-FFF2-40B4-BE49-F238E27FC236}">
                <a16:creationId xmlns:a16="http://schemas.microsoft.com/office/drawing/2014/main" id="{5874FEBA-F5EB-1619-DFF5-8EEBEAB36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44183" y="1344613"/>
            <a:ext cx="2724913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Combining text and macro data consistently beats the Naïve benchmark, proving sentiment adds predictive value.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The linear LASSO Hybrid model (MAE 0.01537) outperforms complex non-linear models (RF, XGBoost) on unseen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The best model reduces forecast error by ~6.7% compared to the market benchmark.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While Random Forest fits training data best (potential overfitting), LASSO generalizes best to the test set.</a:t>
            </a:r>
          </a:p>
        </p:txBody>
      </p:sp>
    </p:spTree>
    <p:extLst>
      <p:ext uri="{BB962C8B-B14F-4D97-AF65-F5344CB8AC3E}">
        <p14:creationId xmlns:p14="http://schemas.microsoft.com/office/powerpoint/2010/main" val="88027052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7759644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6670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de-AT" b="1" err="1"/>
              <a:t>Limitations</a:t>
            </a:r>
            <a:endParaRPr lang="de-AT" b="1"/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de-AT"/>
              <a:t>Models </a:t>
            </a:r>
            <a:r>
              <a:rPr lang="de-AT" err="1"/>
              <a:t>predict</a:t>
            </a:r>
            <a:r>
              <a:rPr lang="de-AT"/>
              <a:t> </a:t>
            </a:r>
            <a:r>
              <a:rPr lang="de-AT" err="1"/>
              <a:t>only</a:t>
            </a:r>
            <a:r>
              <a:rPr lang="de-AT"/>
              <a:t> t+1, </a:t>
            </a:r>
            <a:r>
              <a:rPr lang="de-AT" err="1"/>
              <a:t>we</a:t>
            </a:r>
            <a:r>
              <a:rPr lang="de-AT"/>
              <a:t> </a:t>
            </a:r>
            <a:r>
              <a:rPr lang="de-AT" err="1"/>
              <a:t>did</a:t>
            </a:r>
            <a:r>
              <a:rPr lang="de-AT"/>
              <a:t> not </a:t>
            </a:r>
            <a:r>
              <a:rPr lang="de-AT" err="1"/>
              <a:t>test</a:t>
            </a:r>
            <a:r>
              <a:rPr lang="de-AT"/>
              <a:t> </a:t>
            </a:r>
            <a:r>
              <a:rPr lang="de-AT" err="1"/>
              <a:t>the</a:t>
            </a:r>
            <a:r>
              <a:rPr lang="de-AT"/>
              <a:t> </a:t>
            </a:r>
            <a:r>
              <a:rPr lang="de-AT" err="1"/>
              <a:t>ability</a:t>
            </a:r>
            <a:r>
              <a:rPr lang="de-AT"/>
              <a:t>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forecast</a:t>
            </a:r>
            <a:r>
              <a:rPr lang="de-AT"/>
              <a:t> </a:t>
            </a:r>
            <a:r>
              <a:rPr lang="de-AT" err="1"/>
              <a:t>longer</a:t>
            </a:r>
            <a:r>
              <a:rPr lang="de-AT"/>
              <a:t>-term </a:t>
            </a:r>
            <a:r>
              <a:rPr lang="de-AT" err="1"/>
              <a:t>trends</a:t>
            </a:r>
            <a:endParaRPr lang="de-AT"/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de-AT" err="1"/>
              <a:t>Document</a:t>
            </a:r>
            <a:r>
              <a:rPr lang="de-AT"/>
              <a:t>-term </a:t>
            </a:r>
            <a:r>
              <a:rPr lang="de-AT" err="1"/>
              <a:t>matrix</a:t>
            </a:r>
            <a:r>
              <a:rPr lang="de-AT"/>
              <a:t> </a:t>
            </a:r>
            <a:r>
              <a:rPr lang="de-AT" err="1"/>
              <a:t>ignores</a:t>
            </a:r>
            <a:r>
              <a:rPr lang="de-AT"/>
              <a:t> </a:t>
            </a:r>
            <a:r>
              <a:rPr lang="de-AT" err="1"/>
              <a:t>word</a:t>
            </a:r>
            <a:r>
              <a:rPr lang="de-AT"/>
              <a:t> </a:t>
            </a:r>
            <a:r>
              <a:rPr lang="de-AT" err="1"/>
              <a:t>order</a:t>
            </a:r>
            <a:r>
              <a:rPr lang="de-AT"/>
              <a:t> and </a:t>
            </a:r>
            <a:r>
              <a:rPr lang="de-AT" err="1"/>
              <a:t>context</a:t>
            </a:r>
            <a:r>
              <a:rPr lang="de-AT"/>
              <a:t>, and </a:t>
            </a:r>
            <a:r>
              <a:rPr lang="de-AT" err="1"/>
              <a:t>might</a:t>
            </a:r>
            <a:r>
              <a:rPr lang="de-AT"/>
              <a:t> </a:t>
            </a:r>
            <a:r>
              <a:rPr lang="de-AT" err="1"/>
              <a:t>therefore</a:t>
            </a:r>
            <a:r>
              <a:rPr lang="de-AT"/>
              <a:t> lose </a:t>
            </a:r>
            <a:r>
              <a:rPr lang="de-AT" err="1"/>
              <a:t>semantic</a:t>
            </a:r>
            <a:r>
              <a:rPr lang="de-AT"/>
              <a:t> </a:t>
            </a:r>
            <a:r>
              <a:rPr lang="de-AT" err="1"/>
              <a:t>nuance</a:t>
            </a:r>
            <a:r>
              <a:rPr lang="de-AT"/>
              <a:t> </a:t>
            </a:r>
            <a:r>
              <a:rPr lang="de-AT" err="1"/>
              <a:t>compared</a:t>
            </a:r>
            <a:r>
              <a:rPr lang="de-AT"/>
              <a:t> </a:t>
            </a:r>
            <a:r>
              <a:rPr lang="de-AT" err="1"/>
              <a:t>to</a:t>
            </a:r>
            <a:r>
              <a:rPr lang="de-AT"/>
              <a:t> modern NLP</a:t>
            </a:r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de-AT" err="1"/>
              <a:t>Speeches</a:t>
            </a:r>
            <a:r>
              <a:rPr lang="de-AT"/>
              <a:t> and press </a:t>
            </a:r>
            <a:r>
              <a:rPr lang="de-AT" err="1"/>
              <a:t>releases</a:t>
            </a:r>
            <a:r>
              <a:rPr lang="de-AT"/>
              <a:t> </a:t>
            </a:r>
            <a:r>
              <a:rPr lang="de-AT" err="1"/>
              <a:t>are</a:t>
            </a:r>
            <a:r>
              <a:rPr lang="de-AT"/>
              <a:t> </a:t>
            </a:r>
            <a:r>
              <a:rPr lang="de-AT" err="1"/>
              <a:t>sporadic</a:t>
            </a:r>
            <a:r>
              <a:rPr lang="de-AT"/>
              <a:t> – on </a:t>
            </a:r>
            <a:r>
              <a:rPr lang="de-AT" err="1"/>
              <a:t>days</a:t>
            </a:r>
            <a:r>
              <a:rPr lang="de-AT"/>
              <a:t> </a:t>
            </a:r>
            <a:r>
              <a:rPr lang="de-AT" err="1"/>
              <a:t>without</a:t>
            </a:r>
            <a:r>
              <a:rPr lang="de-AT"/>
              <a:t> </a:t>
            </a:r>
            <a:r>
              <a:rPr lang="de-AT" err="1"/>
              <a:t>events</a:t>
            </a:r>
            <a:r>
              <a:rPr lang="de-AT"/>
              <a:t>, </a:t>
            </a:r>
            <a:r>
              <a:rPr lang="de-AT" err="1"/>
              <a:t>the</a:t>
            </a:r>
            <a:r>
              <a:rPr lang="de-AT"/>
              <a:t>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signal</a:t>
            </a:r>
            <a:r>
              <a:rPr lang="de-AT"/>
              <a:t> </a:t>
            </a:r>
            <a:r>
              <a:rPr lang="de-AT" err="1"/>
              <a:t>is</a:t>
            </a:r>
            <a:r>
              <a:rPr lang="de-AT"/>
              <a:t> </a:t>
            </a:r>
            <a:r>
              <a:rPr lang="de-AT" err="1"/>
              <a:t>zero</a:t>
            </a:r>
            <a:endParaRPr lang="de-AT"/>
          </a:p>
          <a:p>
            <a:pPr marL="387350" indent="-285750">
              <a:buFont typeface="Arial" panose="020B0604020202020204" pitchFamily="34" charset="0"/>
              <a:buChar char="•"/>
            </a:pPr>
            <a:endParaRPr lang="de-AT"/>
          </a:p>
          <a:p>
            <a:pPr marL="101600" indent="0">
              <a:buNone/>
            </a:pPr>
            <a:r>
              <a:rPr lang="de-AT" b="1"/>
              <a:t>Future Research</a:t>
            </a:r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de-AT" err="1"/>
              <a:t>Using</a:t>
            </a:r>
            <a:r>
              <a:rPr lang="de-AT"/>
              <a:t> </a:t>
            </a:r>
            <a:r>
              <a:rPr lang="de-AT" err="1"/>
              <a:t>the</a:t>
            </a:r>
            <a:r>
              <a:rPr lang="de-AT"/>
              <a:t> </a:t>
            </a:r>
            <a:r>
              <a:rPr lang="de-AT" err="1"/>
              <a:t>monthly</a:t>
            </a:r>
            <a:r>
              <a:rPr lang="de-AT"/>
              <a:t> OPEC </a:t>
            </a:r>
            <a:r>
              <a:rPr lang="de-AT" err="1"/>
              <a:t>oil</a:t>
            </a:r>
            <a:r>
              <a:rPr lang="de-AT"/>
              <a:t> </a:t>
            </a:r>
            <a:r>
              <a:rPr lang="de-AT" err="1"/>
              <a:t>market</a:t>
            </a:r>
            <a:r>
              <a:rPr lang="de-AT"/>
              <a:t> </a:t>
            </a:r>
            <a:r>
              <a:rPr lang="de-AT" err="1"/>
              <a:t>report</a:t>
            </a:r>
            <a:r>
              <a:rPr lang="de-AT"/>
              <a:t>, </a:t>
            </a:r>
            <a:r>
              <a:rPr lang="de-AT" err="1"/>
              <a:t>the</a:t>
            </a:r>
            <a:r>
              <a:rPr lang="de-AT"/>
              <a:t> </a:t>
            </a:r>
            <a:r>
              <a:rPr lang="de-AT" err="1"/>
              <a:t>monthly</a:t>
            </a:r>
            <a:r>
              <a:rPr lang="de-AT"/>
              <a:t> EIA </a:t>
            </a:r>
            <a:r>
              <a:rPr lang="de-AT" err="1"/>
              <a:t>short</a:t>
            </a:r>
            <a:r>
              <a:rPr lang="de-AT"/>
              <a:t> </a:t>
            </a:r>
            <a:r>
              <a:rPr lang="de-AT" err="1"/>
              <a:t>term</a:t>
            </a:r>
            <a:r>
              <a:rPr lang="de-AT"/>
              <a:t> </a:t>
            </a:r>
            <a:r>
              <a:rPr lang="de-AT" err="1"/>
              <a:t>energy</a:t>
            </a:r>
            <a:r>
              <a:rPr lang="de-AT"/>
              <a:t> </a:t>
            </a:r>
            <a:r>
              <a:rPr lang="de-AT" err="1"/>
              <a:t>outlook</a:t>
            </a:r>
            <a:r>
              <a:rPr lang="de-AT"/>
              <a:t> </a:t>
            </a:r>
            <a:r>
              <a:rPr lang="de-AT" err="1"/>
              <a:t>or</a:t>
            </a:r>
            <a:r>
              <a:rPr lang="de-AT"/>
              <a:t> </a:t>
            </a:r>
            <a:r>
              <a:rPr lang="de-AT" err="1"/>
              <a:t>the</a:t>
            </a:r>
            <a:r>
              <a:rPr lang="de-AT"/>
              <a:t> EIA </a:t>
            </a:r>
            <a:r>
              <a:rPr lang="de-AT" err="1"/>
              <a:t>weekly</a:t>
            </a:r>
            <a:r>
              <a:rPr lang="de-AT"/>
              <a:t> </a:t>
            </a:r>
            <a:r>
              <a:rPr lang="de-AT" err="1"/>
              <a:t>patroleum</a:t>
            </a:r>
            <a:r>
              <a:rPr lang="de-AT"/>
              <a:t> </a:t>
            </a:r>
            <a:r>
              <a:rPr lang="de-AT" err="1"/>
              <a:t>status</a:t>
            </a:r>
            <a:r>
              <a:rPr lang="de-AT"/>
              <a:t> </a:t>
            </a:r>
            <a:r>
              <a:rPr lang="de-AT" err="1"/>
              <a:t>report</a:t>
            </a:r>
            <a:r>
              <a:rPr lang="de-AT"/>
              <a:t> </a:t>
            </a:r>
            <a:r>
              <a:rPr lang="de-AT" err="1"/>
              <a:t>as</a:t>
            </a:r>
            <a:r>
              <a:rPr lang="de-AT"/>
              <a:t> alternative/additional </a:t>
            </a:r>
            <a:r>
              <a:rPr lang="de-AT" err="1"/>
              <a:t>data</a:t>
            </a:r>
            <a:r>
              <a:rPr lang="de-AT"/>
              <a:t> </a:t>
            </a:r>
            <a:r>
              <a:rPr lang="de-AT" err="1"/>
              <a:t>sources</a:t>
            </a:r>
            <a:endParaRPr lang="de-AT"/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de-AT"/>
              <a:t>Test </a:t>
            </a:r>
            <a:r>
              <a:rPr lang="de-AT" err="1"/>
              <a:t>predictive</a:t>
            </a:r>
            <a:r>
              <a:rPr lang="de-AT"/>
              <a:t> power </a:t>
            </a:r>
            <a:r>
              <a:rPr lang="de-AT" err="1"/>
              <a:t>over</a:t>
            </a:r>
            <a:r>
              <a:rPr lang="de-AT"/>
              <a:t> </a:t>
            </a:r>
            <a:r>
              <a:rPr lang="de-AT" err="1"/>
              <a:t>longer</a:t>
            </a:r>
            <a:r>
              <a:rPr lang="de-AT"/>
              <a:t> </a:t>
            </a:r>
            <a:r>
              <a:rPr lang="de-AT" err="1"/>
              <a:t>horizons</a:t>
            </a:r>
            <a:endParaRPr lang="de-AT"/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de-AT"/>
              <a:t>Focus on </a:t>
            </a:r>
            <a:r>
              <a:rPr lang="de-AT" err="1"/>
              <a:t>intraday</a:t>
            </a:r>
            <a:r>
              <a:rPr lang="de-AT"/>
              <a:t> </a:t>
            </a:r>
            <a:r>
              <a:rPr lang="de-AT" err="1"/>
              <a:t>volatility</a:t>
            </a:r>
            <a:r>
              <a:rPr lang="de-AT"/>
              <a:t> </a:t>
            </a:r>
            <a:r>
              <a:rPr lang="de-AT" err="1"/>
              <a:t>impact</a:t>
            </a:r>
            <a:r>
              <a:rPr lang="de-AT"/>
              <a:t> in </a:t>
            </a:r>
            <a:r>
              <a:rPr lang="de-AT" err="1"/>
              <a:t>the</a:t>
            </a:r>
            <a:r>
              <a:rPr lang="de-AT"/>
              <a:t> </a:t>
            </a:r>
            <a:r>
              <a:rPr lang="de-AT" err="1"/>
              <a:t>minutes</a:t>
            </a:r>
            <a:r>
              <a:rPr lang="de-AT"/>
              <a:t>/</a:t>
            </a:r>
            <a:r>
              <a:rPr lang="de-AT" err="1"/>
              <a:t>hours</a:t>
            </a:r>
            <a:r>
              <a:rPr lang="de-AT"/>
              <a:t> </a:t>
            </a:r>
            <a:r>
              <a:rPr lang="de-AT" err="1"/>
              <a:t>following</a:t>
            </a:r>
            <a:r>
              <a:rPr lang="de-AT"/>
              <a:t> a </a:t>
            </a:r>
            <a:r>
              <a:rPr lang="de-AT" err="1"/>
              <a:t>speech</a:t>
            </a:r>
            <a:r>
              <a:rPr lang="de-AT"/>
              <a:t>/press release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259" name="Google Shape;259;p13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23</a:t>
            </a:fld>
            <a:endParaRPr/>
          </a:p>
        </p:txBody>
      </p:sp>
      <p:sp>
        <p:nvSpPr>
          <p:cNvPr id="260" name="Google Shape;260;p13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de-AT" err="1"/>
              <a:t>Limitations</a:t>
            </a:r>
            <a:r>
              <a:rPr lang="de-AT"/>
              <a:t> and Future Work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body" idx="1"/>
          </p:nvPr>
        </p:nvSpPr>
        <p:spPr>
          <a:xfrm>
            <a:off x="462019" y="1344613"/>
            <a:ext cx="7759644" cy="3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387350" indent="-285750">
              <a:buFont typeface="Arial" panose="020B0604020202020204" pitchFamily="34" charset="0"/>
              <a:buChar char="•"/>
            </a:pP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Combining textual sentiment with macroeconomic fundamentals consistently outperforms the Naïve benchmark, reducing the out-of-sample forecast error by </a:t>
            </a:r>
            <a:r>
              <a:rPr lang="en-US" i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~6.7%</a:t>
            </a: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(LASSO Hybrid).</a:t>
            </a:r>
          </a:p>
          <a:p>
            <a:pPr marL="387350" indent="-285750">
              <a:buFont typeface="Arial" panose="020B0604020202020204" pitchFamily="34" charset="0"/>
              <a:buChar char="•"/>
            </a:pPr>
            <a:endParaRPr lang="en-US" i="0" u="none" strike="noStrike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Quantitative fundamentals remain the primary drivers of oil price trends, with </a:t>
            </a:r>
            <a:r>
              <a:rPr lang="en-US" i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Momentum (Lagged Returns)</a:t>
            </a: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 </a:t>
            </a:r>
            <a:r>
              <a:rPr lang="en-US" i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Volatility (VIX)</a:t>
            </a: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and </a:t>
            </a:r>
            <a:r>
              <a:rPr lang="en-US" i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Currency Strength (DXY)</a:t>
            </a: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identified as the strongest predictors across all models.</a:t>
            </a:r>
          </a:p>
          <a:p>
            <a:pPr marL="387350" indent="-285750">
              <a:buFont typeface="Arial" panose="020B0604020202020204" pitchFamily="34" charset="0"/>
              <a:buChar char="•"/>
            </a:pPr>
            <a:endParaRPr lang="de-AT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Qualitative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features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specifically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those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related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OPEC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events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(e.g., '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secretariat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', '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vienna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')—rank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within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top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predictors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providing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distinct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"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fine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-tuning"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signal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that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captures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market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reactions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specific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policy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AT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announcements</a:t>
            </a:r>
            <a:r>
              <a:rPr lang="de-AT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387350" indent="-285750">
              <a:buFont typeface="Arial" panose="020B0604020202020204" pitchFamily="34" charset="0"/>
              <a:buChar char="•"/>
            </a:pPr>
            <a:endParaRPr lang="de-AT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linear </a:t>
            </a:r>
            <a:r>
              <a:rPr lang="en-US" i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LASSO</a:t>
            </a: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model achieved the highest out-of-sample accuracy, outperforming complex non-linear models (Random Forest, XGBoost), suggesting that </a:t>
            </a:r>
            <a:r>
              <a:rPr lang="en-US" i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strict feature selection</a:t>
            </a: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is more effective than model complexity in noisy financial environments.</a:t>
            </a:r>
          </a:p>
          <a:p>
            <a:pPr marL="387350" indent="-285750">
              <a:buFont typeface="Arial" panose="020B0604020202020204" pitchFamily="34" charset="0"/>
              <a:buChar char="•"/>
            </a:pPr>
            <a:endParaRPr lang="de-AT" i="0" u="none" strike="noStrike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87350" indent="-285750">
              <a:buFont typeface="Arial" panose="020B0604020202020204" pitchFamily="34" charset="0"/>
              <a:buChar char="•"/>
            </a:pPr>
            <a:r>
              <a:rPr lang="en-US" i="0" u="none" strike="noStrike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ability to systematically beat the random walk suggests that the oil market is not fully efficient and contains exploitable information asymmetries embedded in qualitative communications.</a:t>
            </a:r>
            <a:endParaRPr lang="de-AT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6" name="Google Shape;266;p14"/>
          <p:cNvSpPr txBox="1">
            <a:spLocks noGrp="1"/>
          </p:cNvSpPr>
          <p:nvPr>
            <p:ph type="ftr" idx="11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FUSSZEILE</a:t>
            </a:r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sldNum" idx="12"/>
          </p:nvPr>
        </p:nvSpPr>
        <p:spPr>
          <a:xfrm>
            <a:off x="462407" y="5412059"/>
            <a:ext cx="892150" cy="25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AT"/>
              <a:t>SEITE </a:t>
            </a:r>
            <a:fld id="{00000000-1234-1234-1234-123412341234}" type="slidenum">
              <a:rPr lang="de-AT"/>
              <a:t>24</a:t>
            </a:fld>
            <a:endParaRPr/>
          </a:p>
        </p:txBody>
      </p:sp>
      <p:sp>
        <p:nvSpPr>
          <p:cNvPr id="268" name="Google Shape;268;p14"/>
          <p:cNvSpPr txBox="1"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</a:pPr>
            <a:r>
              <a:rPr lang="de-AT"/>
              <a:t>Conclusion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D03D-0B78-A70D-B370-B84C8D319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860" y="1125519"/>
            <a:ext cx="5436000" cy="1026000"/>
          </a:xfrm>
        </p:spPr>
        <p:txBody>
          <a:bodyPr/>
          <a:lstStyle/>
          <a:p>
            <a:pPr algn="ctr"/>
            <a:r>
              <a:rPr lang="en-GB"/>
              <a:t>Thank you for your attention!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CB9AC-4810-57B4-866B-FC8D3BA51D1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82625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1630</Words>
  <Application>Microsoft Macintosh PowerPoint</Application>
  <PresentationFormat>On-screen Show (16:10)</PresentationFormat>
  <Paragraphs>247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Arial,Sans-Serif</vt:lpstr>
      <vt:lpstr>Cambria Math</vt:lpstr>
      <vt:lpstr>Georgia</vt:lpstr>
      <vt:lpstr>Noto Sans Symbols</vt:lpstr>
      <vt:lpstr>Verdana</vt:lpstr>
      <vt:lpstr>Wingdings</vt:lpstr>
      <vt:lpstr>WU 16:10</vt:lpstr>
      <vt:lpstr>Explaining and Predicting Oil Prices Using OPEC Communication</vt:lpstr>
      <vt:lpstr>Motivation and Research Question</vt:lpstr>
      <vt:lpstr>Framework &amp; Approach</vt:lpstr>
      <vt:lpstr>Literature: OPEC Announcements &amp; Oil Supply News</vt:lpstr>
      <vt:lpstr>Literature II: OPEC Narratives &amp; Text</vt:lpstr>
      <vt:lpstr>Textual Data &amp; Corpus</vt:lpstr>
      <vt:lpstr>Numerical Data &amp; Transformation</vt:lpstr>
      <vt:lpstr>Text Collection (Scraping Pipeline)</vt:lpstr>
      <vt:lpstr>Text Descriptive and Wordclouds</vt:lpstr>
      <vt:lpstr>Naïve model</vt:lpstr>
      <vt:lpstr>Naïve model</vt:lpstr>
      <vt:lpstr>LASSO – Model Explanation</vt:lpstr>
      <vt:lpstr>Lasso (text only)</vt:lpstr>
      <vt:lpstr>Lasso hybrid</vt:lpstr>
      <vt:lpstr>Elastic Net – Model Explanation</vt:lpstr>
      <vt:lpstr>Elastic Net (text only)</vt:lpstr>
      <vt:lpstr>Elastic Net (hybrid)</vt:lpstr>
      <vt:lpstr>Random Forest</vt:lpstr>
      <vt:lpstr>Random Forest</vt:lpstr>
      <vt:lpstr>XGBoost (Gradient Boosting)</vt:lpstr>
      <vt:lpstr>XGBoost</vt:lpstr>
      <vt:lpstr>Overview of Results</vt:lpstr>
      <vt:lpstr>Limitations and Future Work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Matejka, Gabriel</dc:creator>
  <cp:lastModifiedBy>Hartung, Wilhelm Tilman Ulrich</cp:lastModifiedBy>
  <cp:revision>1</cp:revision>
  <dcterms:created xsi:type="dcterms:W3CDTF">2024-03-18T10:24:09Z</dcterms:created>
  <dcterms:modified xsi:type="dcterms:W3CDTF">2026-01-29T10:13:38Z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U Thema">
    <vt:lpwstr>403;#Corporate Design|19895bcd-b158-45ae-ab7b-f5ca217dfcec</vt:lpwstr>
  </property>
  <property fmtid="{D5CDD505-2E9C-101B-9397-08002B2CF9AE}" pid="3" name="Dokumentenart">
    <vt:lpwstr>266;#Vorlagen|17fc50ed-8ad1-47be-ab12-04243fd74ddb</vt:lpwstr>
  </property>
  <property fmtid="{D5CDD505-2E9C-101B-9397-08002B2CF9AE}" pid="4" name="ContentTypeId">
    <vt:lpwstr>0x010100BCF651A35DF3154DB01328AF51148DAE</vt:lpwstr>
  </property>
</Properties>
</file>